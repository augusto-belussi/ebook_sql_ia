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8" r:id="rId3"/>
    <p:sldId id="257" r:id="rId4"/>
    <p:sldId id="259" r:id="rId5"/>
    <p:sldId id="260" r:id="rId6"/>
    <p:sldId id="265" r:id="rId7"/>
    <p:sldId id="266" r:id="rId8"/>
    <p:sldId id="272" r:id="rId9"/>
    <p:sldId id="269" r:id="rId10"/>
    <p:sldId id="268" r:id="rId11"/>
    <p:sldId id="286" r:id="rId12"/>
    <p:sldId id="270" r:id="rId13"/>
    <p:sldId id="283" r:id="rId14"/>
    <p:sldId id="284" r:id="rId15"/>
    <p:sldId id="271" r:id="rId16"/>
    <p:sldId id="275" r:id="rId17"/>
    <p:sldId id="276" r:id="rId18"/>
    <p:sldId id="261" r:id="rId19"/>
    <p:sldId id="277" r:id="rId20"/>
    <p:sldId id="278" r:id="rId21"/>
    <p:sldId id="285" r:id="rId22"/>
    <p:sldId id="274" r:id="rId23"/>
    <p:sldId id="279" r:id="rId24"/>
    <p:sldId id="280" r:id="rId25"/>
    <p:sldId id="273" r:id="rId26"/>
    <p:sldId id="281" r:id="rId27"/>
    <p:sldId id="282" r:id="rId28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87" userDrawn="1">
          <p15:clr>
            <a:srgbClr val="A4A3A4"/>
          </p15:clr>
        </p15:guide>
        <p15:guide id="2" pos="30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8A8A"/>
    <a:srgbClr val="8A8B95"/>
    <a:srgbClr val="82DDEA"/>
    <a:srgbClr val="15273E"/>
    <a:srgbClr val="0B454F"/>
    <a:srgbClr val="C7E6DC"/>
    <a:srgbClr val="69A5DF"/>
    <a:srgbClr val="0727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89" autoAdjust="0"/>
    <p:restoredTop sz="94660"/>
  </p:normalViewPr>
  <p:slideViewPr>
    <p:cSldViewPr snapToGrid="0">
      <p:cViewPr varScale="1">
        <p:scale>
          <a:sx n="56" d="100"/>
          <a:sy n="56" d="100"/>
        </p:scale>
        <p:origin x="3156" y="102"/>
      </p:cViewPr>
      <p:guideLst>
        <p:guide orient="horz" pos="3987"/>
        <p:guide pos="300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F3B19-103E-4547-8986-524F263936E0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43505A-50DC-4E37-AC21-6310E25C93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7500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73079-4C5B-43CA-8131-75A2759E8826}" type="datetime1">
              <a:rPr lang="pt-BR" smtClean="0"/>
              <a:t>15/11/2025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0553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C425F-912A-4D8B-910F-F06C54C265BB}" type="datetime1">
              <a:rPr lang="pt-BR" smtClean="0"/>
              <a:t>15/11/2025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7886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9F61D-CF8E-46D1-933B-F760C274B9B6}" type="datetime1">
              <a:rPr lang="pt-BR" smtClean="0"/>
              <a:t>15/11/2025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2324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3E0B7-EFCB-4445-8C3A-4F69B23972F0}" type="datetime1">
              <a:rPr lang="pt-BR" smtClean="0"/>
              <a:t>15/11/2025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6567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2E9A6-D170-4F2B-9BFC-E8A800986BC7}" type="datetime1">
              <a:rPr lang="pt-BR" smtClean="0"/>
              <a:t>15/11/2025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3694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E45E7-CAFD-4264-9AA8-7E7B16A278D5}" type="datetime1">
              <a:rPr lang="pt-BR" smtClean="0"/>
              <a:t>15/11/2025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194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5EBBE-E54F-437E-BDC3-647FEA2F7930}" type="datetime1">
              <a:rPr lang="pt-BR" smtClean="0"/>
              <a:t>15/11/2025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1006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AC91-CFA9-4930-8161-E4352A1C8C1E}" type="datetime1">
              <a:rPr lang="pt-BR" smtClean="0"/>
              <a:t>15/11/2025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2890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C472-2639-4FCC-9B8C-4113D18D4422}" type="datetime1">
              <a:rPr lang="pt-BR" smtClean="0"/>
              <a:t>15/11/2025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273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2327-C328-4351-A1EA-568C26CBF1EE}" type="datetime1">
              <a:rPr lang="pt-BR" smtClean="0"/>
              <a:t>15/11/2025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4026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986B6-D7C7-4594-92E3-87AD524A1D44}" type="datetime1">
              <a:rPr lang="pt-BR" smtClean="0"/>
              <a:t>15/11/2025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7573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06B24-259C-4FF6-9D80-9F6F66A3B8AB}" type="datetime1">
              <a:rPr lang="pt-BR" smtClean="0"/>
              <a:t>15/11/2025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Code &amp; Query - Augusto Belussi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C356C-32FC-486B-A040-E367F151B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509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5648030-9F2F-E9DE-4714-E9BDA7A0D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84" t="8221" r="16807" b="8530"/>
          <a:stretch>
            <a:fillRect/>
          </a:stretch>
        </p:blipFill>
        <p:spPr>
          <a:xfrm>
            <a:off x="1" y="-5816"/>
            <a:ext cx="9601199" cy="128074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376457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D0F880-F34B-0253-B95A-2E01FFC89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1F9253D9-3598-269A-29D0-AD1048BE9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91" t="9335" r="17046" b="8961"/>
          <a:stretch>
            <a:fillRect/>
          </a:stretch>
        </p:blipFill>
        <p:spPr>
          <a:xfrm>
            <a:off x="0" y="0"/>
            <a:ext cx="9601200" cy="12801600"/>
          </a:xfrm>
          <a:prstGeom prst="rect">
            <a:avLst/>
          </a:prstGeom>
        </p:spPr>
      </p:pic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98A0F7A-68BB-7C72-BA84-089DCD97C36B}"/>
              </a:ext>
            </a:extLst>
          </p:cNvPr>
          <p:cNvSpPr txBox="1"/>
          <p:nvPr/>
        </p:nvSpPr>
        <p:spPr>
          <a:xfrm>
            <a:off x="-4617" y="9310644"/>
            <a:ext cx="9605817" cy="25545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pt-BR" sz="80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COMEÇO DA JORNADA</a:t>
            </a:r>
            <a:endParaRPr lang="pt-BR" sz="8000" b="1" dirty="0">
              <a:ln w="0">
                <a:solidFill>
                  <a:sysClr val="windowText" lastClr="000000"/>
                </a:solidFill>
              </a:ln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7F17426-5262-2701-FDA2-E5D6F9D47337}"/>
              </a:ext>
            </a:extLst>
          </p:cNvPr>
          <p:cNvSpPr txBox="1"/>
          <p:nvPr/>
        </p:nvSpPr>
        <p:spPr>
          <a:xfrm>
            <a:off x="2513756" y="793037"/>
            <a:ext cx="4573688" cy="538609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pt-BR" sz="34400" b="1" dirty="0">
                <a:ln>
                  <a:solidFill>
                    <a:sysClr val="windowText" lastClr="000000"/>
                  </a:solidFill>
                </a:ln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01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4955375-E279-5443-8E2A-0C6918E92B8D}"/>
              </a:ext>
            </a:extLst>
          </p:cNvPr>
          <p:cNvSpPr/>
          <p:nvPr/>
        </p:nvSpPr>
        <p:spPr>
          <a:xfrm>
            <a:off x="1444621" y="10514299"/>
            <a:ext cx="6694098" cy="8577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6883903-07D7-A12D-5DFF-00C764A0A52E}"/>
              </a:ext>
            </a:extLst>
          </p:cNvPr>
          <p:cNvSpPr/>
          <p:nvPr/>
        </p:nvSpPr>
        <p:spPr>
          <a:xfrm>
            <a:off x="2509139" y="11717954"/>
            <a:ext cx="4573688" cy="8577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spaço Reservado para Rodapé 13">
            <a:extLst>
              <a:ext uri="{FF2B5EF4-FFF2-40B4-BE49-F238E27FC236}">
                <a16:creationId xmlns:a16="http://schemas.microsoft.com/office/drawing/2014/main" id="{1B29468B-8C64-3AED-78F5-82B4A45DF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</p:spTree>
    <p:extLst>
      <p:ext uri="{BB962C8B-B14F-4D97-AF65-F5344CB8AC3E}">
        <p14:creationId xmlns:p14="http://schemas.microsoft.com/office/powerpoint/2010/main" val="4123970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716AD-CBBA-2736-04E0-8B895800D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7AF84CA-409D-A5DC-A53A-033D0EF7A472}"/>
              </a:ext>
            </a:extLst>
          </p:cNvPr>
          <p:cNvSpPr txBox="1"/>
          <p:nvPr/>
        </p:nvSpPr>
        <p:spPr>
          <a:xfrm>
            <a:off x="0" y="3292257"/>
            <a:ext cx="9601200" cy="310854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pt-BR" sz="2800" dirty="0"/>
              <a:t>	SQL (</a:t>
            </a:r>
            <a:r>
              <a:rPr lang="pt-BR" sz="2800" i="1" dirty="0" err="1"/>
              <a:t>Structured</a:t>
            </a:r>
            <a:r>
              <a:rPr lang="pt-BR" sz="2800" i="1" dirty="0"/>
              <a:t> Query </a:t>
            </a:r>
            <a:r>
              <a:rPr lang="pt-BR" sz="2800" i="1" dirty="0" err="1"/>
              <a:t>Language</a:t>
            </a:r>
            <a:r>
              <a:rPr lang="pt-BR" sz="2800" dirty="0"/>
              <a:t>) é a linguagem usada para se comunicar com bancos de dados. Ela permite que você </a:t>
            </a:r>
            <a:r>
              <a:rPr lang="pt-BR" sz="2800" b="1" dirty="0"/>
              <a:t>peça informações</a:t>
            </a:r>
            <a:r>
              <a:rPr lang="pt-BR" sz="2800" dirty="0"/>
              <a:t>, </a:t>
            </a:r>
            <a:r>
              <a:rPr lang="pt-BR" sz="2800" b="1" dirty="0"/>
              <a:t>adicione novos dados</a:t>
            </a:r>
            <a:r>
              <a:rPr lang="pt-BR" sz="2800" dirty="0"/>
              <a:t>, </a:t>
            </a:r>
            <a:r>
              <a:rPr lang="pt-BR" sz="2800" b="1" dirty="0"/>
              <a:t>modifique registros existentes</a:t>
            </a:r>
            <a:r>
              <a:rPr lang="pt-BR" sz="2800" dirty="0"/>
              <a:t> e até </a:t>
            </a:r>
            <a:r>
              <a:rPr lang="pt-BR" sz="2800" b="1" dirty="0"/>
              <a:t>crie estruturas</a:t>
            </a:r>
            <a:r>
              <a:rPr lang="pt-BR" sz="2800" dirty="0"/>
              <a:t> inteiras dentro do banco.</a:t>
            </a:r>
          </a:p>
          <a:p>
            <a:endParaRPr lang="pt-BR" sz="2800" dirty="0"/>
          </a:p>
          <a:p>
            <a:r>
              <a:rPr lang="pt-BR" sz="2800" dirty="0"/>
              <a:t>	Mesmo que pareça técnico, pense em SQL como “frases” que você diz para o banco de dados executar uma ação.</a:t>
            </a:r>
            <a:endParaRPr lang="pt-BR" dirty="0"/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780F943B-84B1-0EFA-873D-705A7D0F1D03}"/>
              </a:ext>
            </a:extLst>
          </p:cNvPr>
          <p:cNvSpPr txBox="1"/>
          <p:nvPr/>
        </p:nvSpPr>
        <p:spPr>
          <a:xfrm>
            <a:off x="-1" y="345888"/>
            <a:ext cx="96011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Entendendo a Linguagem SQL</a:t>
            </a:r>
            <a:endParaRPr lang="pt-BR" sz="6000" b="1" dirty="0">
              <a:latin typeface="+mj-lt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BE6B24F-0D01-F388-48B8-E068C6E60A24}"/>
              </a:ext>
            </a:extLst>
          </p:cNvPr>
          <p:cNvSpPr/>
          <p:nvPr/>
        </p:nvSpPr>
        <p:spPr>
          <a:xfrm>
            <a:off x="0" y="1361551"/>
            <a:ext cx="96012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subtitulo_componente">
            <a:extLst>
              <a:ext uri="{FF2B5EF4-FFF2-40B4-BE49-F238E27FC236}">
                <a16:creationId xmlns:a16="http://schemas.microsoft.com/office/drawing/2014/main" id="{78031249-7F13-38C4-4F63-739821C3D2EE}"/>
              </a:ext>
            </a:extLst>
          </p:cNvPr>
          <p:cNvSpPr txBox="1"/>
          <p:nvPr/>
        </p:nvSpPr>
        <p:spPr>
          <a:xfrm>
            <a:off x="3016060" y="2129650"/>
            <a:ext cx="35690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O que é SQL?</a:t>
            </a:r>
            <a:endParaRPr lang="pt-BR" sz="4400" dirty="0">
              <a:latin typeface="+mj-lt"/>
            </a:endParaRP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B2CDEFE3-2666-90B9-5D40-07207FF6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3</a:t>
            </a:fld>
            <a:endParaRPr lang="pt-BR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635520A1-CC80-D4BD-0861-675A74583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1A9DEED-4D6B-F0F5-6FF6-4BC82C5BFE4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-3773" y="11785936"/>
            <a:ext cx="1015663" cy="10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328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606D6-520D-3F39-1D99-956A3F3D3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2C51482D-4D2C-5D1A-6434-69187BC60627}"/>
              </a:ext>
            </a:extLst>
          </p:cNvPr>
          <p:cNvSpPr txBox="1"/>
          <p:nvPr/>
        </p:nvSpPr>
        <p:spPr>
          <a:xfrm>
            <a:off x="-13138" y="3446145"/>
            <a:ext cx="9614337" cy="726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	Praticamente tudo que usamos no dia a dia depende de</a:t>
            </a:r>
          </a:p>
          <a:p>
            <a:r>
              <a:rPr lang="pt-BR" sz="2800" dirty="0"/>
              <a:t>informação armazenada:</a:t>
            </a:r>
          </a:p>
          <a:p>
            <a:endParaRPr lang="pt-BR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Redes sociais usam bancos de dados para guardar perfis e</a:t>
            </a:r>
          </a:p>
          <a:p>
            <a:pPr lvl="1"/>
            <a:r>
              <a:rPr lang="pt-BR" sz="2800" dirty="0"/>
              <a:t>posts.</a:t>
            </a:r>
          </a:p>
          <a:p>
            <a:pPr lvl="1"/>
            <a:endParaRPr lang="pt-BR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Apps de delivery armazenam pedidos, restaurantes e </a:t>
            </a:r>
          </a:p>
          <a:p>
            <a:pPr lvl="1"/>
            <a:r>
              <a:rPr lang="pt-BR" sz="2800" dirty="0"/>
              <a:t>entregadores.</a:t>
            </a:r>
          </a:p>
          <a:p>
            <a:pPr lvl="1"/>
            <a:endParaRPr lang="pt-BR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Bancos registram transações, contas e clientes.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r>
              <a:rPr lang="pt-BR" sz="2800" dirty="0"/>
              <a:t>	Sem SQL, esses sistemas não teriam como guardar, buscar</a:t>
            </a:r>
          </a:p>
          <a:p>
            <a:r>
              <a:rPr lang="pt-BR" sz="2800" dirty="0"/>
              <a:t>e organizar essas informações. Aprender SQL significa entender </a:t>
            </a:r>
          </a:p>
          <a:p>
            <a:r>
              <a:rPr lang="pt-BR" sz="2800" dirty="0"/>
              <a:t>como os dados se movimentam no “coração” de qualquer </a:t>
            </a:r>
          </a:p>
          <a:p>
            <a:r>
              <a:rPr lang="pt-BR" sz="2800" dirty="0"/>
              <a:t>aplicação moderna.</a:t>
            </a:r>
          </a:p>
          <a:p>
            <a:pPr lvl="1"/>
            <a:endParaRPr lang="pt-BR" sz="2800" dirty="0"/>
          </a:p>
          <a:p>
            <a:endParaRPr lang="pt-BR" dirty="0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A0153547-01F5-1A6F-2B3E-AD6C347B6C3E}"/>
              </a:ext>
            </a:extLst>
          </p:cNvPr>
          <p:cNvSpPr txBox="1"/>
          <p:nvPr/>
        </p:nvSpPr>
        <p:spPr>
          <a:xfrm>
            <a:off x="-13137" y="489985"/>
            <a:ext cx="97609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/>
              <a:t>A Importância do SQL no Mundo Real</a:t>
            </a:r>
            <a:endParaRPr lang="pt-BR" sz="4800" b="1" dirty="0">
              <a:latin typeface="+mj-lt"/>
            </a:endParaRPr>
          </a:p>
        </p:txBody>
      </p:sp>
      <p:sp>
        <p:nvSpPr>
          <p:cNvPr id="4" name="subtitulo_componente">
            <a:extLst>
              <a:ext uri="{FF2B5EF4-FFF2-40B4-BE49-F238E27FC236}">
                <a16:creationId xmlns:a16="http://schemas.microsoft.com/office/drawing/2014/main" id="{0BF0EFB1-BE70-D848-3ED6-5069CE4045E6}"/>
              </a:ext>
            </a:extLst>
          </p:cNvPr>
          <p:cNvSpPr txBox="1"/>
          <p:nvPr/>
        </p:nvSpPr>
        <p:spPr>
          <a:xfrm>
            <a:off x="1216468" y="2151979"/>
            <a:ext cx="722556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Por que SQL é tão importante?</a:t>
            </a:r>
            <a:endParaRPr lang="pt-BR" sz="4400" dirty="0">
              <a:latin typeface="+mj-lt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7D6E513-4338-24D0-FF56-3610ABAF7119}"/>
              </a:ext>
            </a:extLst>
          </p:cNvPr>
          <p:cNvSpPr/>
          <p:nvPr/>
        </p:nvSpPr>
        <p:spPr>
          <a:xfrm>
            <a:off x="-13137" y="1320982"/>
            <a:ext cx="96012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F1DA0C2-7FF0-16D0-D6D9-449F73595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50C07AE-0C91-D7B3-9AFE-00E854733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0BBF9E8-FC7F-7331-4B0C-DDF0250B996A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-3773" y="11785936"/>
            <a:ext cx="1015663" cy="10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023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F5451-2C27-A47F-3128-1E3DB83D2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084AB9B1-6F8B-96DB-69C5-B5CDD1989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91" t="9335" r="17046" b="8961"/>
          <a:stretch>
            <a:fillRect/>
          </a:stretch>
        </p:blipFill>
        <p:spPr>
          <a:xfrm>
            <a:off x="0" y="0"/>
            <a:ext cx="9601200" cy="12801600"/>
          </a:xfrm>
          <a:prstGeom prst="rect">
            <a:avLst/>
          </a:prstGeom>
        </p:spPr>
      </p:pic>
      <p:sp>
        <p:nvSpPr>
          <p:cNvPr id="3" name="titulo_componente">
            <a:extLst>
              <a:ext uri="{FF2B5EF4-FFF2-40B4-BE49-F238E27FC236}">
                <a16:creationId xmlns:a16="http://schemas.microsoft.com/office/drawing/2014/main" id="{7B6646C1-EE8C-B810-2B06-DA156C67C7CA}"/>
              </a:ext>
            </a:extLst>
          </p:cNvPr>
          <p:cNvSpPr txBox="1"/>
          <p:nvPr/>
        </p:nvSpPr>
        <p:spPr>
          <a:xfrm>
            <a:off x="0" y="9310644"/>
            <a:ext cx="9601200" cy="25545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pt-BR" sz="8000" b="1" dirty="0">
                <a:ln w="0"/>
                <a:solidFill>
                  <a:schemeClr val="bg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ENTENDENDO O BANCO DE DADOS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245AB11-2771-34BA-C4BC-BE07752B1BE5}"/>
              </a:ext>
            </a:extLst>
          </p:cNvPr>
          <p:cNvSpPr txBox="1"/>
          <p:nvPr/>
        </p:nvSpPr>
        <p:spPr>
          <a:xfrm>
            <a:off x="2513756" y="793037"/>
            <a:ext cx="4573688" cy="538609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pt-BR" sz="34400" b="1" dirty="0">
                <a:ln>
                  <a:solidFill>
                    <a:sysClr val="windowText" lastClr="000000"/>
                  </a:solidFill>
                </a:ln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02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3A70F74-386E-F9E9-13FA-008F7D7AEBF8}"/>
              </a:ext>
            </a:extLst>
          </p:cNvPr>
          <p:cNvSpPr/>
          <p:nvPr/>
        </p:nvSpPr>
        <p:spPr>
          <a:xfrm>
            <a:off x="776377" y="10502146"/>
            <a:ext cx="8212347" cy="857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74317AA-C5E7-945F-AEEB-115194226818}"/>
              </a:ext>
            </a:extLst>
          </p:cNvPr>
          <p:cNvSpPr/>
          <p:nvPr/>
        </p:nvSpPr>
        <p:spPr>
          <a:xfrm flipV="1">
            <a:off x="931653" y="11739366"/>
            <a:ext cx="7850038" cy="857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BD35AD73-64AF-FB9F-F926-A5C5DBEFC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</p:spTree>
    <p:extLst>
      <p:ext uri="{BB962C8B-B14F-4D97-AF65-F5344CB8AC3E}">
        <p14:creationId xmlns:p14="http://schemas.microsoft.com/office/powerpoint/2010/main" val="14057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11DF1-902B-5352-0406-72323F9D1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87284948-FA0F-5AE6-4F7C-C4503E82EBB9}"/>
              </a:ext>
            </a:extLst>
          </p:cNvPr>
          <p:cNvSpPr txBox="1"/>
          <p:nvPr/>
        </p:nvSpPr>
        <p:spPr>
          <a:xfrm>
            <a:off x="0" y="3706698"/>
            <a:ext cx="96011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	Um banco de dados é um sistema criado para </a:t>
            </a:r>
            <a:r>
              <a:rPr lang="pt-BR" sz="2800" b="1" dirty="0"/>
              <a:t>armazenar</a:t>
            </a:r>
          </a:p>
          <a:p>
            <a:r>
              <a:rPr lang="pt-BR" sz="2800" b="1" dirty="0"/>
              <a:t>informações de forma organizada</a:t>
            </a:r>
            <a:r>
              <a:rPr lang="pt-BR" sz="2800" dirty="0"/>
              <a:t>. Imagine uma grande </a:t>
            </a:r>
          </a:p>
          <a:p>
            <a:r>
              <a:rPr lang="pt-BR" sz="2800" dirty="0"/>
              <a:t>biblioteca: ao invés de livros, temos </a:t>
            </a:r>
            <a:r>
              <a:rPr lang="pt-BR" sz="2800" b="1" dirty="0"/>
              <a:t>dados</a:t>
            </a:r>
            <a:r>
              <a:rPr lang="pt-BR" sz="2800" dirty="0"/>
              <a:t>. Cada parte desse</a:t>
            </a:r>
          </a:p>
          <a:p>
            <a:r>
              <a:rPr lang="pt-BR" sz="2800" dirty="0"/>
              <a:t>sistema serve para facilitar o acesso rápido e seguro às</a:t>
            </a:r>
          </a:p>
          <a:p>
            <a:r>
              <a:rPr lang="pt-BR" sz="2800" dirty="0"/>
              <a:t> informações..</a:t>
            </a:r>
            <a:endParaRPr lang="pt-BR" dirty="0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058C8A83-9C58-D14B-C923-B56577509870}"/>
              </a:ext>
            </a:extLst>
          </p:cNvPr>
          <p:cNvSpPr txBox="1"/>
          <p:nvPr/>
        </p:nvSpPr>
        <p:spPr>
          <a:xfrm>
            <a:off x="1" y="305319"/>
            <a:ext cx="9601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O que é um Banco de Dados?</a:t>
            </a:r>
            <a:endParaRPr lang="pt-BR" sz="6000" b="1" dirty="0">
              <a:latin typeface="+mj-lt"/>
            </a:endParaRPr>
          </a:p>
        </p:txBody>
      </p:sp>
      <p:sp>
        <p:nvSpPr>
          <p:cNvPr id="4" name="subtitulo_componente">
            <a:extLst>
              <a:ext uri="{FF2B5EF4-FFF2-40B4-BE49-F238E27FC236}">
                <a16:creationId xmlns:a16="http://schemas.microsoft.com/office/drawing/2014/main" id="{4C8DFF0B-5B74-9D4A-26BC-2E5D37ADFBFF}"/>
              </a:ext>
            </a:extLst>
          </p:cNvPr>
          <p:cNvSpPr txBox="1"/>
          <p:nvPr/>
        </p:nvSpPr>
        <p:spPr>
          <a:xfrm>
            <a:off x="1981334" y="2151979"/>
            <a:ext cx="56385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A “Biblioteca de Dados”</a:t>
            </a:r>
            <a:endParaRPr lang="pt-BR" sz="4400" dirty="0">
              <a:latin typeface="+mj-lt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9EB501C-AEF6-1601-68BE-70F33CA0110C}"/>
              </a:ext>
            </a:extLst>
          </p:cNvPr>
          <p:cNvSpPr/>
          <p:nvPr/>
        </p:nvSpPr>
        <p:spPr>
          <a:xfrm>
            <a:off x="-13137" y="1320982"/>
            <a:ext cx="96012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20883B5-D49B-1EFC-0443-98479E050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24A37EA-E94E-AAF1-AA48-BA6A793AF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24852D7-5222-23BC-AA83-D462E66E83E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-3773" y="11785936"/>
            <a:ext cx="1015663" cy="10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176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AB4AC-65C0-47CE-776B-7AF8D5405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5C51DE8-CBEA-2874-A85B-B54CC88EED69}"/>
              </a:ext>
            </a:extLst>
          </p:cNvPr>
          <p:cNvSpPr txBox="1"/>
          <p:nvPr/>
        </p:nvSpPr>
        <p:spPr>
          <a:xfrm>
            <a:off x="-13137" y="2476137"/>
            <a:ext cx="96143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	As tabelas são as estruturas principais do banco. Cada tabela </a:t>
            </a:r>
          </a:p>
          <a:p>
            <a:r>
              <a:rPr lang="pt-BR" sz="2800" dirty="0"/>
              <a:t>armazena informações sobre um assunto específico .Exemplos </a:t>
            </a:r>
          </a:p>
          <a:p>
            <a:r>
              <a:rPr lang="pt-BR" sz="2800" dirty="0"/>
              <a:t>de tabelas comuns: </a:t>
            </a:r>
            <a:r>
              <a:rPr lang="pt-BR" sz="2800" b="1" dirty="0"/>
              <a:t>clientes</a:t>
            </a:r>
            <a:r>
              <a:rPr lang="pt-BR" sz="2800" dirty="0"/>
              <a:t>, </a:t>
            </a:r>
            <a:r>
              <a:rPr lang="pt-BR" sz="2800" b="1" dirty="0"/>
              <a:t>produtos</a:t>
            </a:r>
            <a:r>
              <a:rPr lang="pt-BR" sz="2800" dirty="0"/>
              <a:t>, </a:t>
            </a:r>
            <a:r>
              <a:rPr lang="pt-BR" sz="2800" b="1" dirty="0"/>
              <a:t>pedidos</a:t>
            </a:r>
            <a:r>
              <a:rPr lang="pt-BR" sz="2800" dirty="0"/>
              <a:t>.</a:t>
            </a:r>
            <a:endParaRPr lang="pt-BR" dirty="0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FA31C387-19A4-6758-A95D-5488BE4475AB}"/>
              </a:ext>
            </a:extLst>
          </p:cNvPr>
          <p:cNvSpPr txBox="1"/>
          <p:nvPr/>
        </p:nvSpPr>
        <p:spPr>
          <a:xfrm>
            <a:off x="13138" y="135406"/>
            <a:ext cx="9614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/>
              <a:t>Estrutura Fundamental</a:t>
            </a:r>
            <a:endParaRPr lang="pt-BR" sz="7200" b="1" dirty="0">
              <a:latin typeface="+mj-lt"/>
            </a:endParaRPr>
          </a:p>
        </p:txBody>
      </p:sp>
      <p:sp>
        <p:nvSpPr>
          <p:cNvPr id="4" name="subtitulo_componente">
            <a:extLst>
              <a:ext uri="{FF2B5EF4-FFF2-40B4-BE49-F238E27FC236}">
                <a16:creationId xmlns:a16="http://schemas.microsoft.com/office/drawing/2014/main" id="{BF9775C4-BAFC-FCF9-33B2-42E091B9E4F6}"/>
              </a:ext>
            </a:extLst>
          </p:cNvPr>
          <p:cNvSpPr txBox="1"/>
          <p:nvPr/>
        </p:nvSpPr>
        <p:spPr>
          <a:xfrm>
            <a:off x="3652183" y="1460369"/>
            <a:ext cx="22705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Tabelas</a:t>
            </a:r>
            <a:endParaRPr lang="pt-BR" sz="5400" dirty="0">
              <a:latin typeface="+mj-lt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DD5B5C8-64A1-A1D5-3881-0D79CFC15CC2}"/>
              </a:ext>
            </a:extLst>
          </p:cNvPr>
          <p:cNvSpPr/>
          <p:nvPr/>
        </p:nvSpPr>
        <p:spPr>
          <a:xfrm>
            <a:off x="-13137" y="1320982"/>
            <a:ext cx="96012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subtitulo_componente">
            <a:extLst>
              <a:ext uri="{FF2B5EF4-FFF2-40B4-BE49-F238E27FC236}">
                <a16:creationId xmlns:a16="http://schemas.microsoft.com/office/drawing/2014/main" id="{2B32B69A-DF6B-D9F7-DF43-F13E4B5144BE}"/>
              </a:ext>
            </a:extLst>
          </p:cNvPr>
          <p:cNvSpPr txBox="1"/>
          <p:nvPr/>
        </p:nvSpPr>
        <p:spPr>
          <a:xfrm>
            <a:off x="1127959" y="3923005"/>
            <a:ext cx="73452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Colunas e Tipos de Dados</a:t>
            </a:r>
            <a:endParaRPr lang="pt-BR" sz="5400" dirty="0">
              <a:latin typeface="+mj-lt"/>
            </a:endParaRPr>
          </a:p>
        </p:txBody>
      </p:sp>
      <p:sp>
        <p:nvSpPr>
          <p:cNvPr id="7" name="texto_componente">
            <a:extLst>
              <a:ext uri="{FF2B5EF4-FFF2-40B4-BE49-F238E27FC236}">
                <a16:creationId xmlns:a16="http://schemas.microsoft.com/office/drawing/2014/main" id="{3B59EC36-87CF-FA19-E4BF-DB7B45D1B918}"/>
              </a:ext>
            </a:extLst>
          </p:cNvPr>
          <p:cNvSpPr txBox="1"/>
          <p:nvPr/>
        </p:nvSpPr>
        <p:spPr>
          <a:xfrm>
            <a:off x="-1" y="4970081"/>
            <a:ext cx="960120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As colunas definem </a:t>
            </a:r>
            <a:r>
              <a:rPr lang="pt-BR" sz="2800" i="1" dirty="0"/>
              <a:t>o tipo de informação</a:t>
            </a:r>
            <a:r>
              <a:rPr lang="pt-BR" sz="2800" dirty="0"/>
              <a:t> que será armazenada </a:t>
            </a:r>
          </a:p>
          <a:p>
            <a:r>
              <a:rPr lang="pt-BR" sz="2800" dirty="0"/>
              <a:t>em cada tabela. Exemplo de colunas de uma tabela de clientes: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b="1" dirty="0"/>
              <a:t>nome</a:t>
            </a:r>
            <a:r>
              <a:rPr lang="pt-BR" sz="2800" dirty="0"/>
              <a:t> → texto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b="1" dirty="0"/>
              <a:t>idade</a:t>
            </a:r>
            <a:r>
              <a:rPr lang="pt-BR" sz="2800" dirty="0"/>
              <a:t> → número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b="1" dirty="0" err="1"/>
              <a:t>email</a:t>
            </a:r>
            <a:r>
              <a:rPr lang="pt-BR" sz="2800" dirty="0"/>
              <a:t> → texto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b="1" dirty="0" err="1"/>
              <a:t>data_cadastro</a:t>
            </a:r>
            <a:r>
              <a:rPr lang="pt-BR" sz="2800" dirty="0"/>
              <a:t> → data e hora</a:t>
            </a:r>
          </a:p>
          <a:p>
            <a:r>
              <a:rPr lang="pt-BR" sz="2800" dirty="0"/>
              <a:t>Esses tipos de dados garantem que cada informação seja</a:t>
            </a:r>
          </a:p>
          <a:p>
            <a:r>
              <a:rPr lang="pt-BR" sz="2800" dirty="0"/>
              <a:t> armazenada corretamente.</a:t>
            </a:r>
          </a:p>
          <a:p>
            <a:endParaRPr lang="pt-BR" sz="2800" dirty="0"/>
          </a:p>
        </p:txBody>
      </p:sp>
      <p:sp>
        <p:nvSpPr>
          <p:cNvPr id="10" name="subtitulo_componente">
            <a:extLst>
              <a:ext uri="{FF2B5EF4-FFF2-40B4-BE49-F238E27FC236}">
                <a16:creationId xmlns:a16="http://schemas.microsoft.com/office/drawing/2014/main" id="{5289CBF9-FB2F-7501-A547-0CD8C3158C61}"/>
              </a:ext>
            </a:extLst>
          </p:cNvPr>
          <p:cNvSpPr txBox="1"/>
          <p:nvPr/>
        </p:nvSpPr>
        <p:spPr>
          <a:xfrm>
            <a:off x="2251184" y="8602480"/>
            <a:ext cx="50988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Linhas (Registros)</a:t>
            </a:r>
            <a:endParaRPr lang="pt-BR" sz="5400" dirty="0">
              <a:latin typeface="+mj-lt"/>
            </a:endParaRPr>
          </a:p>
        </p:txBody>
      </p:sp>
      <p:sp>
        <p:nvSpPr>
          <p:cNvPr id="11" name="texto_componente">
            <a:extLst>
              <a:ext uri="{FF2B5EF4-FFF2-40B4-BE49-F238E27FC236}">
                <a16:creationId xmlns:a16="http://schemas.microsoft.com/office/drawing/2014/main" id="{79784605-7EC9-C0F0-04F0-9C2B01E296BA}"/>
              </a:ext>
            </a:extLst>
          </p:cNvPr>
          <p:cNvSpPr txBox="1"/>
          <p:nvPr/>
        </p:nvSpPr>
        <p:spPr>
          <a:xfrm>
            <a:off x="-13138" y="9848409"/>
            <a:ext cx="96143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	Cada linha é um item real armazenado na tabela. Se a tabela é </a:t>
            </a:r>
            <a:r>
              <a:rPr lang="pt-BR" sz="2800" b="1" dirty="0"/>
              <a:t>clientes</a:t>
            </a:r>
            <a:r>
              <a:rPr lang="pt-BR" sz="2800" dirty="0"/>
              <a:t>, cada linha representa </a:t>
            </a:r>
            <a:r>
              <a:rPr lang="pt-BR" sz="2800" i="1" dirty="0"/>
              <a:t>um cliente específico</a:t>
            </a:r>
            <a:r>
              <a:rPr lang="pt-BR" sz="2800" dirty="0"/>
              <a:t>.</a:t>
            </a:r>
            <a:endParaRPr lang="pt-BR" dirty="0"/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8E252741-1B93-3F92-BB56-A21DB78A8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7</a:t>
            </a:fld>
            <a:endParaRPr lang="pt-BR"/>
          </a:p>
        </p:txBody>
      </p:sp>
      <p:sp>
        <p:nvSpPr>
          <p:cNvPr id="14" name="Espaço Reservado para Rodapé 13">
            <a:extLst>
              <a:ext uri="{FF2B5EF4-FFF2-40B4-BE49-F238E27FC236}">
                <a16:creationId xmlns:a16="http://schemas.microsoft.com/office/drawing/2014/main" id="{4B7292BE-9222-CB2D-50A2-45DD5F734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AD3AA44A-B995-DE96-5875-2B3FA2220C0E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-3773" y="11785936"/>
            <a:ext cx="1015663" cy="10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536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9793C-A425-47F6-43E2-503507EAD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B4B1E88B-BE98-21D8-3612-F98BF2D54A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91" t="9335" r="17046" b="8961"/>
          <a:stretch>
            <a:fillRect/>
          </a:stretch>
        </p:blipFill>
        <p:spPr>
          <a:xfrm>
            <a:off x="0" y="0"/>
            <a:ext cx="9601200" cy="12801600"/>
          </a:xfrm>
          <a:prstGeom prst="rect">
            <a:avLst/>
          </a:prstGeom>
        </p:spPr>
      </p:pic>
      <p:sp>
        <p:nvSpPr>
          <p:cNvPr id="3" name="titulo_componente">
            <a:extLst>
              <a:ext uri="{FF2B5EF4-FFF2-40B4-BE49-F238E27FC236}">
                <a16:creationId xmlns:a16="http://schemas.microsoft.com/office/drawing/2014/main" id="{A621E2B0-1D0F-5A99-2C07-3489D8DD5CD4}"/>
              </a:ext>
            </a:extLst>
          </p:cNvPr>
          <p:cNvSpPr txBox="1"/>
          <p:nvPr/>
        </p:nvSpPr>
        <p:spPr>
          <a:xfrm>
            <a:off x="0" y="9310644"/>
            <a:ext cx="9601200" cy="25545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pt-BR" sz="8000" b="1" dirty="0">
                <a:ln w="0"/>
                <a:solidFill>
                  <a:schemeClr val="bg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CONSULTANDO DADOS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45C55AE2-52FE-D271-2A6C-BA0B2EB22087}"/>
              </a:ext>
            </a:extLst>
          </p:cNvPr>
          <p:cNvSpPr txBox="1"/>
          <p:nvPr/>
        </p:nvSpPr>
        <p:spPr>
          <a:xfrm>
            <a:off x="2513756" y="793037"/>
            <a:ext cx="4573688" cy="538609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pt-BR" sz="34400" b="1" dirty="0">
                <a:ln>
                  <a:solidFill>
                    <a:sysClr val="windowText" lastClr="000000"/>
                  </a:solidFill>
                </a:ln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03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C84F1E5-6CF3-7F7B-6D8C-CB23ECA040DC}"/>
              </a:ext>
            </a:extLst>
          </p:cNvPr>
          <p:cNvSpPr/>
          <p:nvPr/>
        </p:nvSpPr>
        <p:spPr>
          <a:xfrm>
            <a:off x="3226278" y="11672851"/>
            <a:ext cx="3226279" cy="1121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C56F75C-A383-7152-5F26-E1FA41DE254E}"/>
              </a:ext>
            </a:extLst>
          </p:cNvPr>
          <p:cNvSpPr/>
          <p:nvPr/>
        </p:nvSpPr>
        <p:spPr>
          <a:xfrm>
            <a:off x="1380226" y="10452913"/>
            <a:ext cx="6814868" cy="1121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9B2D281F-375A-58C3-ED66-0300A363B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</p:spTree>
    <p:extLst>
      <p:ext uri="{BB962C8B-B14F-4D97-AF65-F5344CB8AC3E}">
        <p14:creationId xmlns:p14="http://schemas.microsoft.com/office/powerpoint/2010/main" val="948314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9348A-978A-2C4B-8AC5-8C05F525B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6BB6C529-B344-6B7E-042F-C9A522C8ABAB}"/>
              </a:ext>
            </a:extLst>
          </p:cNvPr>
          <p:cNvSpPr txBox="1"/>
          <p:nvPr/>
        </p:nvSpPr>
        <p:spPr>
          <a:xfrm>
            <a:off x="0" y="3272021"/>
            <a:ext cx="9601200" cy="483209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pt-BR" sz="2800" dirty="0"/>
              <a:t>	O comando </a:t>
            </a:r>
            <a:r>
              <a:rPr lang="pt-BR" sz="2800" b="1" dirty="0"/>
              <a:t>SELECT</a:t>
            </a:r>
            <a:r>
              <a:rPr lang="pt-BR" sz="2800" dirty="0"/>
              <a:t> é o mais usado no SQL, pois permite consultar informações de uma tabela.</a:t>
            </a:r>
          </a:p>
          <a:p>
            <a:r>
              <a:rPr lang="pt-BR" sz="2800" dirty="0"/>
              <a:t>Exemplo:</a:t>
            </a:r>
          </a:p>
          <a:p>
            <a:endParaRPr lang="pt-BR" sz="2800" dirty="0"/>
          </a:p>
          <a:p>
            <a:r>
              <a:rPr lang="pt-BR" sz="2800" dirty="0"/>
              <a:t>	</a:t>
            </a:r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r>
              <a:rPr lang="pt-BR" sz="2800" dirty="0"/>
              <a:t>O </a:t>
            </a:r>
            <a:r>
              <a:rPr lang="pt-BR" sz="2800" i="1" dirty="0"/>
              <a:t>asterisco</a:t>
            </a:r>
            <a:r>
              <a:rPr lang="pt-BR" sz="2800" dirty="0"/>
              <a:t> significa “traga todas as colunas”.</a:t>
            </a:r>
          </a:p>
          <a:p>
            <a:endParaRPr lang="pt-BR" sz="2800" dirty="0"/>
          </a:p>
          <a:p>
            <a:endParaRPr lang="pt-BR" sz="2800" dirty="0"/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740E80D0-67A3-BAD8-16AB-9C44FEA81D13}"/>
              </a:ext>
            </a:extLst>
          </p:cNvPr>
          <p:cNvSpPr txBox="1"/>
          <p:nvPr/>
        </p:nvSpPr>
        <p:spPr>
          <a:xfrm>
            <a:off x="0" y="461080"/>
            <a:ext cx="960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dirty="0"/>
              <a:t>SELECT – Buscando Informações</a:t>
            </a:r>
            <a:endParaRPr lang="pt-BR" sz="5400" b="1" dirty="0">
              <a:latin typeface="+mj-lt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A378763-C88C-8656-896A-AFB343660507}"/>
              </a:ext>
            </a:extLst>
          </p:cNvPr>
          <p:cNvSpPr/>
          <p:nvPr/>
        </p:nvSpPr>
        <p:spPr>
          <a:xfrm>
            <a:off x="0" y="1361551"/>
            <a:ext cx="96012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subtitulo_componente">
            <a:extLst>
              <a:ext uri="{FF2B5EF4-FFF2-40B4-BE49-F238E27FC236}">
                <a16:creationId xmlns:a16="http://schemas.microsoft.com/office/drawing/2014/main" id="{7BD5B794-B284-29C1-1D03-D8F5764553ED}"/>
              </a:ext>
            </a:extLst>
          </p:cNvPr>
          <p:cNvSpPr txBox="1"/>
          <p:nvPr/>
        </p:nvSpPr>
        <p:spPr>
          <a:xfrm>
            <a:off x="2737294" y="1954925"/>
            <a:ext cx="41266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Comando SELECT</a:t>
            </a:r>
            <a:endParaRPr lang="pt-BR" sz="4400" dirty="0">
              <a:latin typeface="+mj-lt"/>
            </a:endParaRPr>
          </a:p>
        </p:txBody>
      </p:sp>
      <p:sp>
        <p:nvSpPr>
          <p:cNvPr id="5" name="subtitulo_componente">
            <a:extLst>
              <a:ext uri="{FF2B5EF4-FFF2-40B4-BE49-F238E27FC236}">
                <a16:creationId xmlns:a16="http://schemas.microsoft.com/office/drawing/2014/main" id="{5434C234-2DCF-AB17-D31D-F75E8B7ACE87}"/>
              </a:ext>
            </a:extLst>
          </p:cNvPr>
          <p:cNvSpPr txBox="1"/>
          <p:nvPr/>
        </p:nvSpPr>
        <p:spPr>
          <a:xfrm>
            <a:off x="935966" y="7390906"/>
            <a:ext cx="77292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Selecionando colunas específicas</a:t>
            </a:r>
            <a:endParaRPr lang="pt-BR" sz="4400" dirty="0">
              <a:latin typeface="+mj-lt"/>
            </a:endParaRPr>
          </a:p>
        </p:txBody>
      </p:sp>
      <p:sp>
        <p:nvSpPr>
          <p:cNvPr id="7" name="texto_componente">
            <a:extLst>
              <a:ext uri="{FF2B5EF4-FFF2-40B4-BE49-F238E27FC236}">
                <a16:creationId xmlns:a16="http://schemas.microsoft.com/office/drawing/2014/main" id="{DE4FDC48-722E-2B0E-57C2-15EB1FC1B544}"/>
              </a:ext>
            </a:extLst>
          </p:cNvPr>
          <p:cNvSpPr txBox="1"/>
          <p:nvPr/>
        </p:nvSpPr>
        <p:spPr>
          <a:xfrm>
            <a:off x="0" y="10335356"/>
            <a:ext cx="9601200" cy="138499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pt-BR" sz="2800" dirty="0"/>
              <a:t>	</a:t>
            </a:r>
          </a:p>
          <a:p>
            <a:r>
              <a:rPr lang="pt-BR" sz="2800" dirty="0"/>
              <a:t>	Assim, você vê apenas as informações de nomes da tabela clientes.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975036B6-8FB1-5714-0777-187C1C6A9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565" y="4143341"/>
            <a:ext cx="6914070" cy="2765628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6BA5DAE9-E583-FD18-7108-37FBF1264A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565" y="7952429"/>
            <a:ext cx="6914070" cy="2765628"/>
          </a:xfrm>
          <a:prstGeom prst="rect">
            <a:avLst/>
          </a:prstGeom>
        </p:spPr>
      </p:pic>
      <p:sp>
        <p:nvSpPr>
          <p:cNvPr id="24" name="Espaço Reservado para Número de Slide 23">
            <a:extLst>
              <a:ext uri="{FF2B5EF4-FFF2-40B4-BE49-F238E27FC236}">
                <a16:creationId xmlns:a16="http://schemas.microsoft.com/office/drawing/2014/main" id="{406BA7E3-6110-B353-BE92-385CA098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9</a:t>
            </a:fld>
            <a:endParaRPr lang="pt-BR"/>
          </a:p>
        </p:txBody>
      </p:sp>
      <p:sp>
        <p:nvSpPr>
          <p:cNvPr id="25" name="Espaço Reservado para Rodapé 24">
            <a:extLst>
              <a:ext uri="{FF2B5EF4-FFF2-40B4-BE49-F238E27FC236}">
                <a16:creationId xmlns:a16="http://schemas.microsoft.com/office/drawing/2014/main" id="{C1A206F4-D1A0-220B-483C-509CE293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7D996D79-D9E6-15B1-B8C1-A14E5E18387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-3773" y="11785936"/>
            <a:ext cx="1015663" cy="10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832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ED4FD-18C2-EB68-92D5-FBC9E5BBC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C7C8A26C-2029-060D-090F-DD452E917C3C}"/>
              </a:ext>
            </a:extLst>
          </p:cNvPr>
          <p:cNvSpPr txBox="1"/>
          <p:nvPr/>
        </p:nvSpPr>
        <p:spPr>
          <a:xfrm>
            <a:off x="0" y="3315550"/>
            <a:ext cx="9601200" cy="181588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pt-BR" sz="2800" dirty="0"/>
              <a:t>	O </a:t>
            </a:r>
            <a:r>
              <a:rPr lang="pt-BR" sz="2800" b="1" dirty="0"/>
              <a:t>WHERE</a:t>
            </a:r>
            <a:r>
              <a:rPr lang="pt-BR" sz="2800" dirty="0"/>
              <a:t> permite buscar dados que atendam a uma condição:</a:t>
            </a:r>
          </a:p>
          <a:p>
            <a:endParaRPr lang="pt-BR" sz="2800" dirty="0"/>
          </a:p>
          <a:p>
            <a:r>
              <a:rPr lang="pt-BR" sz="2800" dirty="0"/>
              <a:t>	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E2F3CD73-5BD2-A2CE-97B6-83D5C53612CE}"/>
              </a:ext>
            </a:extLst>
          </p:cNvPr>
          <p:cNvSpPr txBox="1"/>
          <p:nvPr/>
        </p:nvSpPr>
        <p:spPr>
          <a:xfrm>
            <a:off x="0" y="253555"/>
            <a:ext cx="9601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Filtrando </a:t>
            </a:r>
            <a:r>
              <a:rPr lang="pt-BR" sz="6600" b="1" dirty="0"/>
              <a:t>com</a:t>
            </a:r>
            <a:r>
              <a:rPr lang="pt-BR" sz="6000" b="1" dirty="0"/>
              <a:t> WHERE</a:t>
            </a:r>
            <a:endParaRPr lang="pt-BR" sz="6000" b="1" dirty="0">
              <a:latin typeface="+mj-lt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BDD0917-029A-9D30-17A2-792EA11AB1BA}"/>
              </a:ext>
            </a:extLst>
          </p:cNvPr>
          <p:cNvSpPr/>
          <p:nvPr/>
        </p:nvSpPr>
        <p:spPr>
          <a:xfrm>
            <a:off x="0" y="1361551"/>
            <a:ext cx="96012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subtitulo_componente">
            <a:extLst>
              <a:ext uri="{FF2B5EF4-FFF2-40B4-BE49-F238E27FC236}">
                <a16:creationId xmlns:a16="http://schemas.microsoft.com/office/drawing/2014/main" id="{78FCFAE8-25CF-01DB-F823-3A900C866552}"/>
              </a:ext>
            </a:extLst>
          </p:cNvPr>
          <p:cNvSpPr txBox="1"/>
          <p:nvPr/>
        </p:nvSpPr>
        <p:spPr>
          <a:xfrm>
            <a:off x="2901196" y="2130545"/>
            <a:ext cx="37988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Usando WHERE</a:t>
            </a:r>
            <a:endParaRPr lang="pt-BR" sz="4400" dirty="0">
              <a:latin typeface="+mj-lt"/>
            </a:endParaRPr>
          </a:p>
        </p:txBody>
      </p:sp>
      <p:sp>
        <p:nvSpPr>
          <p:cNvPr id="5" name="subtitulo_componente">
            <a:extLst>
              <a:ext uri="{FF2B5EF4-FFF2-40B4-BE49-F238E27FC236}">
                <a16:creationId xmlns:a16="http://schemas.microsoft.com/office/drawing/2014/main" id="{7EA96102-2103-7C63-FC7D-8510B53EF623}"/>
              </a:ext>
            </a:extLst>
          </p:cNvPr>
          <p:cNvSpPr txBox="1"/>
          <p:nvPr/>
        </p:nvSpPr>
        <p:spPr>
          <a:xfrm>
            <a:off x="1946617" y="7039712"/>
            <a:ext cx="57079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Combinando condições</a:t>
            </a:r>
            <a:endParaRPr lang="pt-BR" sz="4400" dirty="0">
              <a:latin typeface="+mj-lt"/>
            </a:endParaRPr>
          </a:p>
        </p:txBody>
      </p:sp>
      <p:sp>
        <p:nvSpPr>
          <p:cNvPr id="7" name="texto_componente">
            <a:extLst>
              <a:ext uri="{FF2B5EF4-FFF2-40B4-BE49-F238E27FC236}">
                <a16:creationId xmlns:a16="http://schemas.microsoft.com/office/drawing/2014/main" id="{61DC564A-F5EE-094E-DE43-5C9E92FE2467}"/>
              </a:ext>
            </a:extLst>
          </p:cNvPr>
          <p:cNvSpPr txBox="1"/>
          <p:nvPr/>
        </p:nvSpPr>
        <p:spPr>
          <a:xfrm>
            <a:off x="0" y="8321040"/>
            <a:ext cx="9601200" cy="138499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pt-BR" sz="2800" dirty="0"/>
              <a:t>	Você pode combinar condições:</a:t>
            </a:r>
          </a:p>
          <a:p>
            <a:endParaRPr lang="pt-BR" sz="2800" dirty="0"/>
          </a:p>
          <a:p>
            <a:r>
              <a:rPr lang="pt-BR" sz="2800" dirty="0"/>
              <a:t>	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AADAB3F-9947-3253-B583-9F129C02D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565" y="3998905"/>
            <a:ext cx="6914070" cy="276562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6615D46-A871-FCFB-4F9D-D2317705AE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829" y="8869613"/>
            <a:ext cx="6741542" cy="2696617"/>
          </a:xfrm>
          <a:prstGeom prst="rect">
            <a:avLst/>
          </a:prstGeom>
        </p:spPr>
      </p:pic>
      <p:sp>
        <p:nvSpPr>
          <p:cNvPr id="15" name="Espaço Reservado para Número de Slide 14">
            <a:extLst>
              <a:ext uri="{FF2B5EF4-FFF2-40B4-BE49-F238E27FC236}">
                <a16:creationId xmlns:a16="http://schemas.microsoft.com/office/drawing/2014/main" id="{4B4B81DE-D103-6730-B85E-FC5558A6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10</a:t>
            </a:fld>
            <a:endParaRPr lang="pt-BR"/>
          </a:p>
        </p:txBody>
      </p:sp>
      <p:sp>
        <p:nvSpPr>
          <p:cNvPr id="16" name="Espaço Reservado para Rodapé 15">
            <a:extLst>
              <a:ext uri="{FF2B5EF4-FFF2-40B4-BE49-F238E27FC236}">
                <a16:creationId xmlns:a16="http://schemas.microsoft.com/office/drawing/2014/main" id="{1710FBFB-BBEB-8823-B2A8-6CE884086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0EC5D054-71B4-DD05-27D9-15BEE95FBF7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-3773" y="11785936"/>
            <a:ext cx="1015663" cy="10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157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A4291-B35A-6D18-491F-B17E81669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C3197E6A-30DC-C8BB-C680-C93227235E1E}"/>
              </a:ext>
            </a:extLst>
          </p:cNvPr>
          <p:cNvSpPr txBox="1"/>
          <p:nvPr/>
        </p:nvSpPr>
        <p:spPr>
          <a:xfrm>
            <a:off x="-22644" y="8352639"/>
            <a:ext cx="9601200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pt-BR" sz="2800" dirty="0"/>
              <a:t>	O símbolo </a:t>
            </a:r>
            <a:r>
              <a:rPr lang="pt-BR" dirty="0"/>
              <a:t>%</a:t>
            </a:r>
            <a:r>
              <a:rPr lang="pt-BR" sz="2800" dirty="0"/>
              <a:t> significa “qualquer sequência de caracteres”.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961901A9-8767-F79D-3485-3B3CDA6EAF59}"/>
              </a:ext>
            </a:extLst>
          </p:cNvPr>
          <p:cNvSpPr txBox="1"/>
          <p:nvPr/>
        </p:nvSpPr>
        <p:spPr>
          <a:xfrm>
            <a:off x="0" y="0"/>
            <a:ext cx="96464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/>
              <a:t>Buscando partes de um texto (LIKE)</a:t>
            </a:r>
            <a:endParaRPr lang="pt-BR" sz="5400" b="1" dirty="0">
              <a:latin typeface="+mj-lt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8E32154-4056-8385-6D6E-D0D84D4D8FC2}"/>
              </a:ext>
            </a:extLst>
          </p:cNvPr>
          <p:cNvSpPr/>
          <p:nvPr/>
        </p:nvSpPr>
        <p:spPr>
          <a:xfrm>
            <a:off x="0" y="1708607"/>
            <a:ext cx="9646488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subtitulo_componente">
            <a:extLst>
              <a:ext uri="{FF2B5EF4-FFF2-40B4-BE49-F238E27FC236}">
                <a16:creationId xmlns:a16="http://schemas.microsoft.com/office/drawing/2014/main" id="{AD02AAE8-7889-8C1A-A12A-23019FCFE100}"/>
              </a:ext>
            </a:extLst>
          </p:cNvPr>
          <p:cNvSpPr txBox="1"/>
          <p:nvPr/>
        </p:nvSpPr>
        <p:spPr>
          <a:xfrm>
            <a:off x="3249205" y="2693492"/>
            <a:ext cx="31027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Usando LIKE</a:t>
            </a:r>
            <a:endParaRPr lang="pt-BR" sz="4400" dirty="0">
              <a:latin typeface="+mj-lt"/>
            </a:endParaRPr>
          </a:p>
        </p:txBody>
      </p:sp>
      <p:sp>
        <p:nvSpPr>
          <p:cNvPr id="8" name="texto_componente">
            <a:extLst>
              <a:ext uri="{FF2B5EF4-FFF2-40B4-BE49-F238E27FC236}">
                <a16:creationId xmlns:a16="http://schemas.microsoft.com/office/drawing/2014/main" id="{1DF51F40-6A9D-2121-9BE8-E4E892E989D7}"/>
              </a:ext>
            </a:extLst>
          </p:cNvPr>
          <p:cNvSpPr txBox="1"/>
          <p:nvPr/>
        </p:nvSpPr>
        <p:spPr>
          <a:xfrm>
            <a:off x="22644" y="4140489"/>
            <a:ext cx="9601200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pt-BR" sz="2800" dirty="0"/>
              <a:t>	Procura por pedaços de texto: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03881925-4ABE-144D-43AF-69C775890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921" y="4944479"/>
            <a:ext cx="6914070" cy="2765628"/>
          </a:xfrm>
          <a:prstGeom prst="rect">
            <a:avLst/>
          </a:prstGeom>
        </p:spPr>
      </p:pic>
      <p:sp>
        <p:nvSpPr>
          <p:cNvPr id="17" name="Espaço Reservado para Número de Slide 16">
            <a:extLst>
              <a:ext uri="{FF2B5EF4-FFF2-40B4-BE49-F238E27FC236}">
                <a16:creationId xmlns:a16="http://schemas.microsoft.com/office/drawing/2014/main" id="{28A10FB5-4532-0E48-C22E-DA2815CCE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11</a:t>
            </a:fld>
            <a:endParaRPr lang="pt-BR"/>
          </a:p>
        </p:txBody>
      </p:sp>
      <p:sp>
        <p:nvSpPr>
          <p:cNvPr id="18" name="Espaço Reservado para Rodapé 17">
            <a:extLst>
              <a:ext uri="{FF2B5EF4-FFF2-40B4-BE49-F238E27FC236}">
                <a16:creationId xmlns:a16="http://schemas.microsoft.com/office/drawing/2014/main" id="{FE7D7C6C-C4A7-3668-771D-7C2B1F0E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CC4209DE-AF4E-D976-5F0C-A2F2F95E911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-3773" y="11785936"/>
            <a:ext cx="1015663" cy="10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205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41972-7E17-4E43-F50F-9BDB70E0D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56119A5D-76E7-764E-82F7-5E513082A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91" t="9335" r="17046" b="8961"/>
          <a:stretch>
            <a:fillRect/>
          </a:stretch>
        </p:blipFill>
        <p:spPr>
          <a:xfrm>
            <a:off x="0" y="0"/>
            <a:ext cx="9601200" cy="12801600"/>
          </a:xfrm>
          <a:prstGeom prst="rect">
            <a:avLst/>
          </a:prstGeom>
        </p:spPr>
      </p:pic>
      <p:sp>
        <p:nvSpPr>
          <p:cNvPr id="3" name="titulo_componente">
            <a:extLst>
              <a:ext uri="{FF2B5EF4-FFF2-40B4-BE49-F238E27FC236}">
                <a16:creationId xmlns:a16="http://schemas.microsoft.com/office/drawing/2014/main" id="{B5EB4D1C-EE4C-3D7F-CB30-2925B1CD2015}"/>
              </a:ext>
            </a:extLst>
          </p:cNvPr>
          <p:cNvSpPr txBox="1"/>
          <p:nvPr/>
        </p:nvSpPr>
        <p:spPr>
          <a:xfrm>
            <a:off x="0" y="9310644"/>
            <a:ext cx="9601200" cy="25545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pt-BR" sz="8000" dirty="0">
                <a:ln w="0"/>
                <a:solidFill>
                  <a:schemeClr val="bg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Criando e Inserindo Dados</a:t>
            </a:r>
            <a:endParaRPr lang="pt-BR" sz="8000" dirty="0">
              <a:ln w="0"/>
              <a:solidFill>
                <a:schemeClr val="bg2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AC355B43-793F-6446-01E4-2AF6349548B9}"/>
              </a:ext>
            </a:extLst>
          </p:cNvPr>
          <p:cNvSpPr txBox="1"/>
          <p:nvPr/>
        </p:nvSpPr>
        <p:spPr>
          <a:xfrm>
            <a:off x="2513756" y="793037"/>
            <a:ext cx="4573688" cy="538609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pt-BR" sz="34400" b="1" dirty="0">
                <a:ln>
                  <a:solidFill>
                    <a:sysClr val="windowText" lastClr="000000"/>
                  </a:solidFill>
                </a:ln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04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96653D5-CEB5-EA56-782D-9F308ED1C80F}"/>
              </a:ext>
            </a:extLst>
          </p:cNvPr>
          <p:cNvSpPr/>
          <p:nvPr/>
        </p:nvSpPr>
        <p:spPr>
          <a:xfrm>
            <a:off x="144094" y="10452913"/>
            <a:ext cx="9218556" cy="8577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E597B7B-66C7-0EA1-934A-76949C7C23AF}"/>
              </a:ext>
            </a:extLst>
          </p:cNvPr>
          <p:cNvSpPr/>
          <p:nvPr/>
        </p:nvSpPr>
        <p:spPr>
          <a:xfrm>
            <a:off x="3467819" y="11706650"/>
            <a:ext cx="2674189" cy="857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E106A429-1EF2-406B-1900-23488E800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</p:spTree>
    <p:extLst>
      <p:ext uri="{BB962C8B-B14F-4D97-AF65-F5344CB8AC3E}">
        <p14:creationId xmlns:p14="http://schemas.microsoft.com/office/powerpoint/2010/main" val="526781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74A25-D095-1DE4-B0CE-E850A701A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7F7459F7-FA4E-3D8B-8E5D-0A1CB9D1DF50}"/>
              </a:ext>
            </a:extLst>
          </p:cNvPr>
          <p:cNvSpPr txBox="1"/>
          <p:nvPr/>
        </p:nvSpPr>
        <p:spPr>
          <a:xfrm>
            <a:off x="0" y="3500418"/>
            <a:ext cx="9601200" cy="827919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pt-BR" sz="2800" dirty="0"/>
              <a:t>	Ao criar uma tabela, você define suas colunas:</a:t>
            </a:r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pt-BR" sz="2800" b="1" dirty="0"/>
              <a:t>PRIMARY KEY</a:t>
            </a:r>
            <a:r>
              <a:rPr lang="pt-BR" sz="2800" dirty="0"/>
              <a:t> → identifica cada item de forma única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pt-BR" sz="2800" b="1" dirty="0"/>
              <a:t>VARCHAR</a:t>
            </a:r>
            <a:r>
              <a:rPr lang="pt-BR" sz="2800" dirty="0"/>
              <a:t> → texto variável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pt-BR" sz="2800" b="1" dirty="0"/>
              <a:t>DECIMAL</a:t>
            </a:r>
            <a:r>
              <a:rPr lang="pt-BR" sz="2800" dirty="0"/>
              <a:t> → números com casas decimais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pt-BR" sz="2800" b="1" dirty="0"/>
              <a:t>INT</a:t>
            </a:r>
            <a:r>
              <a:rPr lang="pt-BR" sz="2800" dirty="0"/>
              <a:t> → números inteiros</a:t>
            </a:r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A2275689-236B-05F6-7914-AE020976B631}"/>
              </a:ext>
            </a:extLst>
          </p:cNvPr>
          <p:cNvSpPr txBox="1"/>
          <p:nvPr/>
        </p:nvSpPr>
        <p:spPr>
          <a:xfrm>
            <a:off x="1" y="576273"/>
            <a:ext cx="9601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dirty="0"/>
              <a:t>Criando Tabelas com CREATE TABLE</a:t>
            </a:r>
            <a:endParaRPr lang="pt-BR" sz="4400" b="1" dirty="0">
              <a:latin typeface="+mj-lt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08D74F1-BFF0-1468-027A-99C0C81F18A6}"/>
              </a:ext>
            </a:extLst>
          </p:cNvPr>
          <p:cNvSpPr/>
          <p:nvPr/>
        </p:nvSpPr>
        <p:spPr>
          <a:xfrm>
            <a:off x="0" y="1361551"/>
            <a:ext cx="96012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subtitulo_componente">
            <a:extLst>
              <a:ext uri="{FF2B5EF4-FFF2-40B4-BE49-F238E27FC236}">
                <a16:creationId xmlns:a16="http://schemas.microsoft.com/office/drawing/2014/main" id="{576A1BBA-EF07-EFC3-70BE-8844C127C8FF}"/>
              </a:ext>
            </a:extLst>
          </p:cNvPr>
          <p:cNvSpPr txBox="1"/>
          <p:nvPr/>
        </p:nvSpPr>
        <p:spPr>
          <a:xfrm>
            <a:off x="2270106" y="2192548"/>
            <a:ext cx="50609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Definindo a estrutura</a:t>
            </a:r>
            <a:endParaRPr lang="pt-BR" sz="4400" dirty="0">
              <a:latin typeface="+mj-lt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9F9D5DE-770B-ADBE-0C9A-DE0B33446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419" y="4876890"/>
            <a:ext cx="7262362" cy="2904945"/>
          </a:xfrm>
          <a:prstGeom prst="rect">
            <a:avLst/>
          </a:prstGeom>
        </p:spPr>
      </p:pic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D2154322-A2AC-2846-2B2C-CED6A7543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13</a:t>
            </a:fld>
            <a:endParaRPr lang="pt-BR"/>
          </a:p>
        </p:txBody>
      </p:sp>
      <p:sp>
        <p:nvSpPr>
          <p:cNvPr id="12" name="Espaço Reservado para Rodapé 11">
            <a:extLst>
              <a:ext uri="{FF2B5EF4-FFF2-40B4-BE49-F238E27FC236}">
                <a16:creationId xmlns:a16="http://schemas.microsoft.com/office/drawing/2014/main" id="{DD3646EC-AC74-BCA2-30EF-275726E9C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1608B08C-98FB-AE9D-D3F6-559350EAEF0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-3773" y="11785936"/>
            <a:ext cx="1015663" cy="10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58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07819-91FF-C4D0-DCA0-5EC35A325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_componente">
            <a:extLst>
              <a:ext uri="{FF2B5EF4-FFF2-40B4-BE49-F238E27FC236}">
                <a16:creationId xmlns:a16="http://schemas.microsoft.com/office/drawing/2014/main" id="{A43DB61F-E4D4-7EF4-734F-3453601029AC}"/>
              </a:ext>
            </a:extLst>
          </p:cNvPr>
          <p:cNvSpPr txBox="1"/>
          <p:nvPr/>
        </p:nvSpPr>
        <p:spPr>
          <a:xfrm>
            <a:off x="0" y="503014"/>
            <a:ext cx="9601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dirty="0"/>
              <a:t>Inserindo Registros com INSERT INTO</a:t>
            </a:r>
            <a:endParaRPr lang="pt-BR" sz="4800" b="1" dirty="0">
              <a:latin typeface="+mj-lt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028127A-B1FF-2EDA-C894-DF8DFCB51FCB}"/>
              </a:ext>
            </a:extLst>
          </p:cNvPr>
          <p:cNvSpPr/>
          <p:nvPr/>
        </p:nvSpPr>
        <p:spPr>
          <a:xfrm>
            <a:off x="0" y="1361551"/>
            <a:ext cx="96012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subtitulo_componente">
            <a:extLst>
              <a:ext uri="{FF2B5EF4-FFF2-40B4-BE49-F238E27FC236}">
                <a16:creationId xmlns:a16="http://schemas.microsoft.com/office/drawing/2014/main" id="{E6534CBB-6562-72EF-E820-EBE18FDE9EC5}"/>
              </a:ext>
            </a:extLst>
          </p:cNvPr>
          <p:cNvSpPr txBox="1"/>
          <p:nvPr/>
        </p:nvSpPr>
        <p:spPr>
          <a:xfrm>
            <a:off x="1761149" y="2121680"/>
            <a:ext cx="60789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Adicionando novos dados</a:t>
            </a:r>
            <a:endParaRPr lang="pt-BR" sz="4400" dirty="0">
              <a:latin typeface="+mj-lt"/>
            </a:endParaRPr>
          </a:p>
        </p:txBody>
      </p:sp>
      <p:sp>
        <p:nvSpPr>
          <p:cNvPr id="5" name="subtitulo_componente">
            <a:extLst>
              <a:ext uri="{FF2B5EF4-FFF2-40B4-BE49-F238E27FC236}">
                <a16:creationId xmlns:a16="http://schemas.microsoft.com/office/drawing/2014/main" id="{1AA6D743-A989-7964-B582-D6EC161745E5}"/>
              </a:ext>
            </a:extLst>
          </p:cNvPr>
          <p:cNvSpPr txBox="1"/>
          <p:nvPr/>
        </p:nvSpPr>
        <p:spPr>
          <a:xfrm>
            <a:off x="500482" y="5796843"/>
            <a:ext cx="85272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Inserindo vários valores de uma vez</a:t>
            </a:r>
            <a:endParaRPr lang="pt-BR" sz="4400" dirty="0">
              <a:latin typeface="+mj-lt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06D083B0-3FA8-5D94-3698-EEA67BA11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010" y="2973123"/>
            <a:ext cx="6349041" cy="2539617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B4F6B97-13CD-19D0-CC8E-9531EDA73A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26" y="6996591"/>
            <a:ext cx="7406724" cy="2962690"/>
          </a:xfrm>
          <a:prstGeom prst="rect">
            <a:avLst/>
          </a:prstGeom>
        </p:spPr>
      </p:pic>
      <p:sp>
        <p:nvSpPr>
          <p:cNvPr id="15" name="Espaço Reservado para Número de Slide 14">
            <a:extLst>
              <a:ext uri="{FF2B5EF4-FFF2-40B4-BE49-F238E27FC236}">
                <a16:creationId xmlns:a16="http://schemas.microsoft.com/office/drawing/2014/main" id="{F17884F6-5B1D-B9CD-EA71-C8350CB33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14</a:t>
            </a:fld>
            <a:endParaRPr lang="pt-BR"/>
          </a:p>
        </p:txBody>
      </p:sp>
      <p:sp>
        <p:nvSpPr>
          <p:cNvPr id="16" name="Espaço Reservado para Rodapé 15">
            <a:extLst>
              <a:ext uri="{FF2B5EF4-FFF2-40B4-BE49-F238E27FC236}">
                <a16:creationId xmlns:a16="http://schemas.microsoft.com/office/drawing/2014/main" id="{0A5576DE-7DE3-8C22-36F9-C72B14CDE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BC0E01AB-2DEA-85CD-FC7F-4A73FB978AD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-3773" y="11785936"/>
            <a:ext cx="1015663" cy="10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127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DE328-0893-F003-6878-A01F0BAEC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92869233-7D7F-A1A0-E838-A39197B38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91" t="9335" r="17046" b="8961"/>
          <a:stretch>
            <a:fillRect/>
          </a:stretch>
        </p:blipFill>
        <p:spPr>
          <a:xfrm>
            <a:off x="0" y="0"/>
            <a:ext cx="9601200" cy="12801600"/>
          </a:xfrm>
          <a:prstGeom prst="rect">
            <a:avLst/>
          </a:prstGeom>
        </p:spPr>
      </p:pic>
      <p:sp>
        <p:nvSpPr>
          <p:cNvPr id="3" name="titulo_componente">
            <a:extLst>
              <a:ext uri="{FF2B5EF4-FFF2-40B4-BE49-F238E27FC236}">
                <a16:creationId xmlns:a16="http://schemas.microsoft.com/office/drawing/2014/main" id="{32F3605A-8F7E-4ABB-A92C-CFF5A0879ADB}"/>
              </a:ext>
            </a:extLst>
          </p:cNvPr>
          <p:cNvSpPr txBox="1"/>
          <p:nvPr/>
        </p:nvSpPr>
        <p:spPr>
          <a:xfrm>
            <a:off x="0" y="9310644"/>
            <a:ext cx="9601200" cy="25545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pt-BR" sz="8000" dirty="0">
                <a:ln w="0"/>
                <a:solidFill>
                  <a:schemeClr val="bg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Atualizando e </a:t>
            </a:r>
          </a:p>
          <a:p>
            <a:pPr algn="ctr"/>
            <a:r>
              <a:rPr lang="pt-BR" sz="8000" dirty="0">
                <a:ln w="0"/>
                <a:solidFill>
                  <a:schemeClr val="bg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Deletando Dados</a:t>
            </a:r>
            <a:endParaRPr lang="pt-BR" sz="8000" dirty="0">
              <a:ln w="0"/>
              <a:solidFill>
                <a:schemeClr val="bg2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79761EE0-B181-E407-843D-6958F96212DA}"/>
              </a:ext>
            </a:extLst>
          </p:cNvPr>
          <p:cNvSpPr txBox="1"/>
          <p:nvPr/>
        </p:nvSpPr>
        <p:spPr>
          <a:xfrm>
            <a:off x="2513756" y="793037"/>
            <a:ext cx="4573688" cy="538609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pt-BR" sz="34400" b="1" dirty="0">
                <a:ln>
                  <a:solidFill>
                    <a:sysClr val="windowText" lastClr="000000"/>
                  </a:solidFill>
                </a:ln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05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776904A-40AA-B8B3-A688-65DAE665EFD2}"/>
              </a:ext>
            </a:extLst>
          </p:cNvPr>
          <p:cNvSpPr/>
          <p:nvPr/>
        </p:nvSpPr>
        <p:spPr>
          <a:xfrm flipV="1">
            <a:off x="1080924" y="11761671"/>
            <a:ext cx="7344896" cy="10351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9973E97-A544-A793-536A-C6F85DAFC6FF}"/>
              </a:ext>
            </a:extLst>
          </p:cNvPr>
          <p:cNvSpPr/>
          <p:nvPr/>
        </p:nvSpPr>
        <p:spPr>
          <a:xfrm>
            <a:off x="845389" y="10435167"/>
            <a:ext cx="7781026" cy="10351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59FF94A-C5B6-A8CA-C97C-2C1F0AD64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</p:spTree>
    <p:extLst>
      <p:ext uri="{BB962C8B-B14F-4D97-AF65-F5344CB8AC3E}">
        <p14:creationId xmlns:p14="http://schemas.microsoft.com/office/powerpoint/2010/main" val="2865945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38727-D2AB-9DA4-0FA0-26AEFD869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_componente">
            <a:extLst>
              <a:ext uri="{FF2B5EF4-FFF2-40B4-BE49-F238E27FC236}">
                <a16:creationId xmlns:a16="http://schemas.microsoft.com/office/drawing/2014/main" id="{C77939B2-A91F-7DCB-267F-ED9A62DB470F}"/>
              </a:ext>
            </a:extLst>
          </p:cNvPr>
          <p:cNvSpPr txBox="1"/>
          <p:nvPr/>
        </p:nvSpPr>
        <p:spPr>
          <a:xfrm>
            <a:off x="0" y="592110"/>
            <a:ext cx="9601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/>
              <a:t>Atualizando Informações com UPDATE</a:t>
            </a:r>
            <a:endParaRPr lang="pt-BR" sz="4400" b="1" dirty="0">
              <a:latin typeface="+mj-lt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8F4174C-1CDC-3768-61D1-7AAE97E945B9}"/>
              </a:ext>
            </a:extLst>
          </p:cNvPr>
          <p:cNvSpPr/>
          <p:nvPr/>
        </p:nvSpPr>
        <p:spPr>
          <a:xfrm>
            <a:off x="0" y="1361551"/>
            <a:ext cx="96012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subtitulo_componente">
            <a:extLst>
              <a:ext uri="{FF2B5EF4-FFF2-40B4-BE49-F238E27FC236}">
                <a16:creationId xmlns:a16="http://schemas.microsoft.com/office/drawing/2014/main" id="{C38BA5DE-5A40-3215-AB85-E94E00A1B0FE}"/>
              </a:ext>
            </a:extLst>
          </p:cNvPr>
          <p:cNvSpPr txBox="1"/>
          <p:nvPr/>
        </p:nvSpPr>
        <p:spPr>
          <a:xfrm>
            <a:off x="2054447" y="2130992"/>
            <a:ext cx="54923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Modificando registros</a:t>
            </a:r>
            <a:endParaRPr lang="pt-BR" sz="4400" dirty="0">
              <a:latin typeface="+mj-lt"/>
            </a:endParaRPr>
          </a:p>
        </p:txBody>
      </p:sp>
      <p:sp>
        <p:nvSpPr>
          <p:cNvPr id="7" name="texto_componente">
            <a:extLst>
              <a:ext uri="{FF2B5EF4-FFF2-40B4-BE49-F238E27FC236}">
                <a16:creationId xmlns:a16="http://schemas.microsoft.com/office/drawing/2014/main" id="{71166CEE-36FA-88B9-BDDF-562094837488}"/>
              </a:ext>
            </a:extLst>
          </p:cNvPr>
          <p:cNvSpPr txBox="1"/>
          <p:nvPr/>
        </p:nvSpPr>
        <p:spPr>
          <a:xfrm>
            <a:off x="-36514" y="6457934"/>
            <a:ext cx="9637713" cy="95410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pt-BR" sz="2800" dirty="0"/>
              <a:t>	Sem o WHERE, </a:t>
            </a:r>
            <a:r>
              <a:rPr lang="pt-BR" sz="2800" i="1" dirty="0"/>
              <a:t>todas</a:t>
            </a:r>
            <a:r>
              <a:rPr lang="pt-BR" sz="2800" dirty="0"/>
              <a:t> as linhas seriam alteradas — por isso, cuidado!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FCCAB88-AF63-0096-63BB-845183CA25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551" y="3140969"/>
            <a:ext cx="7691073" cy="3076429"/>
          </a:xfrm>
          <a:prstGeom prst="rect">
            <a:avLst/>
          </a:prstGeom>
        </p:spPr>
      </p:pic>
      <p:sp>
        <p:nvSpPr>
          <p:cNvPr id="14" name="Espaço Reservado para Número de Slide 13">
            <a:extLst>
              <a:ext uri="{FF2B5EF4-FFF2-40B4-BE49-F238E27FC236}">
                <a16:creationId xmlns:a16="http://schemas.microsoft.com/office/drawing/2014/main" id="{848C1429-F378-4531-8F27-8A69BBB77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16</a:t>
            </a:fld>
            <a:endParaRPr lang="pt-BR"/>
          </a:p>
        </p:txBody>
      </p:sp>
      <p:sp>
        <p:nvSpPr>
          <p:cNvPr id="15" name="Espaço Reservado para Rodapé 14">
            <a:extLst>
              <a:ext uri="{FF2B5EF4-FFF2-40B4-BE49-F238E27FC236}">
                <a16:creationId xmlns:a16="http://schemas.microsoft.com/office/drawing/2014/main" id="{8EFA5F4F-0713-94EC-1488-4C693D0C8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440072B5-0206-2A6D-221E-B558E287D46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-3773" y="11785936"/>
            <a:ext cx="1015663" cy="10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727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44539-3DA8-617A-4018-779E36430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_componente">
            <a:extLst>
              <a:ext uri="{FF2B5EF4-FFF2-40B4-BE49-F238E27FC236}">
                <a16:creationId xmlns:a16="http://schemas.microsoft.com/office/drawing/2014/main" id="{AD73AD2A-324E-D413-30F8-C7B095328CFD}"/>
              </a:ext>
            </a:extLst>
          </p:cNvPr>
          <p:cNvSpPr txBox="1"/>
          <p:nvPr/>
        </p:nvSpPr>
        <p:spPr>
          <a:xfrm>
            <a:off x="1" y="401167"/>
            <a:ext cx="960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dirty="0"/>
              <a:t>Removendo Dados com DELETE</a:t>
            </a:r>
            <a:endParaRPr lang="pt-BR" sz="5400" b="1" dirty="0">
              <a:latin typeface="+mj-lt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D65A0BA-3B17-0B5E-0B8E-ACA8ABE831E4}"/>
              </a:ext>
            </a:extLst>
          </p:cNvPr>
          <p:cNvSpPr/>
          <p:nvPr/>
        </p:nvSpPr>
        <p:spPr>
          <a:xfrm>
            <a:off x="0" y="1361551"/>
            <a:ext cx="96012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subtitulo_componente">
            <a:extLst>
              <a:ext uri="{FF2B5EF4-FFF2-40B4-BE49-F238E27FC236}">
                <a16:creationId xmlns:a16="http://schemas.microsoft.com/office/drawing/2014/main" id="{6AA829FC-081B-96F7-6EAB-E89EFDA66B06}"/>
              </a:ext>
            </a:extLst>
          </p:cNvPr>
          <p:cNvSpPr txBox="1"/>
          <p:nvPr/>
        </p:nvSpPr>
        <p:spPr>
          <a:xfrm>
            <a:off x="2537526" y="2067594"/>
            <a:ext cx="45261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Excluindo registros</a:t>
            </a:r>
            <a:endParaRPr lang="pt-BR" sz="4400" dirty="0">
              <a:latin typeface="+mj-lt"/>
            </a:endParaRPr>
          </a:p>
        </p:txBody>
      </p:sp>
      <p:sp>
        <p:nvSpPr>
          <p:cNvPr id="7" name="texto_componente">
            <a:extLst>
              <a:ext uri="{FF2B5EF4-FFF2-40B4-BE49-F238E27FC236}">
                <a16:creationId xmlns:a16="http://schemas.microsoft.com/office/drawing/2014/main" id="{86BD8156-ADCE-0FC3-F102-FE8459BE4A35}"/>
              </a:ext>
            </a:extLst>
          </p:cNvPr>
          <p:cNvSpPr txBox="1"/>
          <p:nvPr/>
        </p:nvSpPr>
        <p:spPr>
          <a:xfrm>
            <a:off x="0" y="6989503"/>
            <a:ext cx="9601200" cy="95410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pt-BR" sz="2800" dirty="0"/>
              <a:t>	Assim como no UPDATE, sempre inclua o WHERE para evitar apagar tudo sem querer.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104E672-E732-A121-E5D1-DE76B3A3E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88" y="3097843"/>
            <a:ext cx="8078800" cy="3231520"/>
          </a:xfrm>
          <a:prstGeom prst="rect">
            <a:avLst/>
          </a:prstGeom>
        </p:spPr>
      </p:pic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42DF7674-F591-881A-CA0F-6A83A7CE9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17</a:t>
            </a:fld>
            <a:endParaRPr lang="pt-BR"/>
          </a:p>
        </p:txBody>
      </p:sp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1490C66D-F9BA-BEC2-9688-701643763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768CBEB9-D4D8-CECE-6C25-169B24A507D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-3773" y="11785936"/>
            <a:ext cx="1015663" cy="10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272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19B6A-B60B-D3C6-3DF2-7D9FBBA3D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7E713B1B-673F-B102-9572-2F1422718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91" t="9335" r="17046" b="8961"/>
          <a:stretch>
            <a:fillRect/>
          </a:stretch>
        </p:blipFill>
        <p:spPr>
          <a:xfrm>
            <a:off x="0" y="0"/>
            <a:ext cx="9601200" cy="12801600"/>
          </a:xfrm>
          <a:prstGeom prst="rect">
            <a:avLst/>
          </a:prstGeom>
        </p:spPr>
      </p:pic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B777224-9DBC-759F-39E3-985C82A5C958}"/>
              </a:ext>
            </a:extLst>
          </p:cNvPr>
          <p:cNvSpPr txBox="1"/>
          <p:nvPr/>
        </p:nvSpPr>
        <p:spPr>
          <a:xfrm>
            <a:off x="0" y="9310644"/>
            <a:ext cx="9601200" cy="25545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pt-BR" sz="8000" dirty="0">
                <a:ln w="0"/>
                <a:solidFill>
                  <a:schemeClr val="bg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Organizando e </a:t>
            </a:r>
          </a:p>
          <a:p>
            <a:pPr algn="ctr"/>
            <a:r>
              <a:rPr lang="pt-BR" sz="8000" dirty="0">
                <a:ln w="0"/>
                <a:solidFill>
                  <a:schemeClr val="bg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Classificando Dados</a:t>
            </a:r>
            <a:endParaRPr lang="pt-BR" sz="8000" dirty="0">
              <a:ln w="0"/>
              <a:solidFill>
                <a:schemeClr val="bg2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7195F327-F09B-A939-8770-8B1337D23F36}"/>
              </a:ext>
            </a:extLst>
          </p:cNvPr>
          <p:cNvSpPr txBox="1"/>
          <p:nvPr/>
        </p:nvSpPr>
        <p:spPr>
          <a:xfrm>
            <a:off x="2513756" y="793037"/>
            <a:ext cx="4573688" cy="538609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pt-BR" sz="34400" b="1" dirty="0">
                <a:ln>
                  <a:solidFill>
                    <a:sysClr val="windowText" lastClr="000000"/>
                  </a:solidFill>
                </a:ln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06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AE3D6BE-4ED9-7409-5253-B974F5DA9B90}"/>
              </a:ext>
            </a:extLst>
          </p:cNvPr>
          <p:cNvSpPr/>
          <p:nvPr/>
        </p:nvSpPr>
        <p:spPr>
          <a:xfrm flipV="1">
            <a:off x="1702637" y="10487435"/>
            <a:ext cx="6195926" cy="10093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6E42EAF-FFE7-FA82-C315-40A1D4DB5D22}"/>
              </a:ext>
            </a:extLst>
          </p:cNvPr>
          <p:cNvSpPr/>
          <p:nvPr/>
        </p:nvSpPr>
        <p:spPr>
          <a:xfrm flipV="1">
            <a:off x="591210" y="11765156"/>
            <a:ext cx="8418780" cy="10003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3D0B03F4-9B42-B287-2E09-A2A9104F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</p:spTree>
    <p:extLst>
      <p:ext uri="{BB962C8B-B14F-4D97-AF65-F5344CB8AC3E}">
        <p14:creationId xmlns:p14="http://schemas.microsoft.com/office/powerpoint/2010/main" val="140082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07510-9CB3-76A4-A5C6-C6181E121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1BE7708B-A7C4-5656-EE63-A631B376A491}"/>
              </a:ext>
            </a:extLst>
          </p:cNvPr>
          <p:cNvSpPr txBox="1"/>
          <p:nvPr/>
        </p:nvSpPr>
        <p:spPr>
          <a:xfrm>
            <a:off x="0" y="6329363"/>
            <a:ext cx="9601200" cy="224676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pt-BR" sz="2800" dirty="0"/>
              <a:t>	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ASC → crescente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DESC → decrescente</a:t>
            </a:r>
          </a:p>
          <a:p>
            <a:endParaRPr lang="pt-BR" sz="2800" dirty="0"/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8A0A356C-1E98-7629-9275-95A228F1A39F}"/>
              </a:ext>
            </a:extLst>
          </p:cNvPr>
          <p:cNvSpPr txBox="1"/>
          <p:nvPr/>
        </p:nvSpPr>
        <p:spPr>
          <a:xfrm>
            <a:off x="0" y="391607"/>
            <a:ext cx="96011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dirty="0"/>
              <a:t>Ordenação</a:t>
            </a:r>
            <a:r>
              <a:rPr lang="pt-BR" sz="6000" b="1" dirty="0"/>
              <a:t> com ORDER BY</a:t>
            </a:r>
            <a:endParaRPr lang="pt-BR" sz="6000" b="1" dirty="0">
              <a:latin typeface="+mj-lt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4BADCCE-F069-B2F2-D6BD-9F1529C1182F}"/>
              </a:ext>
            </a:extLst>
          </p:cNvPr>
          <p:cNvSpPr/>
          <p:nvPr/>
        </p:nvSpPr>
        <p:spPr>
          <a:xfrm>
            <a:off x="0" y="1361551"/>
            <a:ext cx="96012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subtitulo_componente">
            <a:extLst>
              <a:ext uri="{FF2B5EF4-FFF2-40B4-BE49-F238E27FC236}">
                <a16:creationId xmlns:a16="http://schemas.microsoft.com/office/drawing/2014/main" id="{01523803-AD35-CF89-0C07-7B00799E66FD}"/>
              </a:ext>
            </a:extLst>
          </p:cNvPr>
          <p:cNvSpPr txBox="1"/>
          <p:nvPr/>
        </p:nvSpPr>
        <p:spPr>
          <a:xfrm>
            <a:off x="1983279" y="2067594"/>
            <a:ext cx="56346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Ordenando resultados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712C74A-DE7C-DDAE-985F-9D8CE2425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41" y="3241615"/>
            <a:ext cx="8289916" cy="3315966"/>
          </a:xfrm>
          <a:prstGeom prst="rect">
            <a:avLst/>
          </a:prstGeom>
        </p:spPr>
      </p:pic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077ABAF-8835-D35E-DDBD-018F36D58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19</a:t>
            </a:fld>
            <a:endParaRPr lang="pt-BR"/>
          </a:p>
        </p:txBody>
      </p:sp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22B586FE-1812-9036-0C19-3903E5339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5D7756AE-7EDB-7D79-D7DF-6DE67510C84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-3773" y="11785936"/>
            <a:ext cx="1015663" cy="10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95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6CF1E-B5C8-E0B7-F252-1A15519F2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E250145F-BA8D-B191-9C15-EC308773949B}"/>
              </a:ext>
            </a:extLst>
          </p:cNvPr>
          <p:cNvSpPr txBox="1"/>
          <p:nvPr/>
        </p:nvSpPr>
        <p:spPr>
          <a:xfrm>
            <a:off x="0" y="6329363"/>
            <a:ext cx="9601200" cy="138499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endParaRPr lang="pt-BR" sz="2800" dirty="0"/>
          </a:p>
          <a:p>
            <a:r>
              <a:rPr lang="pt-BR" sz="2800" dirty="0"/>
              <a:t>	Ótimo para visualizar apenas parte dos dados.</a:t>
            </a:r>
          </a:p>
          <a:p>
            <a:endParaRPr lang="pt-BR" sz="2800" dirty="0"/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10FB8B4B-B3E4-4C6A-D625-0B19A2AB9D66}"/>
              </a:ext>
            </a:extLst>
          </p:cNvPr>
          <p:cNvSpPr txBox="1"/>
          <p:nvPr/>
        </p:nvSpPr>
        <p:spPr>
          <a:xfrm>
            <a:off x="0" y="461080"/>
            <a:ext cx="960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dirty="0"/>
              <a:t>Limitando Resultados com LIMIT</a:t>
            </a:r>
            <a:endParaRPr lang="pt-BR" sz="5400" b="1" dirty="0">
              <a:latin typeface="+mj-lt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8459795-34B3-65CD-0348-28B446D504CA}"/>
              </a:ext>
            </a:extLst>
          </p:cNvPr>
          <p:cNvSpPr/>
          <p:nvPr/>
        </p:nvSpPr>
        <p:spPr>
          <a:xfrm>
            <a:off x="0" y="1361551"/>
            <a:ext cx="96012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subtitulo_componente">
            <a:extLst>
              <a:ext uri="{FF2B5EF4-FFF2-40B4-BE49-F238E27FC236}">
                <a16:creationId xmlns:a16="http://schemas.microsoft.com/office/drawing/2014/main" id="{C2ADD20A-D898-86DD-F455-A8EE8EE54C98}"/>
              </a:ext>
            </a:extLst>
          </p:cNvPr>
          <p:cNvSpPr txBox="1"/>
          <p:nvPr/>
        </p:nvSpPr>
        <p:spPr>
          <a:xfrm>
            <a:off x="1571368" y="2067594"/>
            <a:ext cx="64584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Mostrar poucos resultados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AC1F312-15FD-5924-B105-95A32E773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871" y="3036512"/>
            <a:ext cx="8410720" cy="3364288"/>
          </a:xfrm>
          <a:prstGeom prst="rect">
            <a:avLst/>
          </a:prstGeom>
        </p:spPr>
      </p:pic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1D91389C-ED32-C898-4EB8-E2ACE2A48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20</a:t>
            </a:fld>
            <a:endParaRPr lang="pt-BR"/>
          </a:p>
        </p:txBody>
      </p:sp>
      <p:sp>
        <p:nvSpPr>
          <p:cNvPr id="14" name="Espaço Reservado para Rodapé 13">
            <a:extLst>
              <a:ext uri="{FF2B5EF4-FFF2-40B4-BE49-F238E27FC236}">
                <a16:creationId xmlns:a16="http://schemas.microsoft.com/office/drawing/2014/main" id="{A71DB51B-6736-E441-23A6-6805CF444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1E4AE8C4-E8DB-31E9-D9A0-F4F5A26F2B6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-3773" y="11785936"/>
            <a:ext cx="1015663" cy="10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69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EF656-E929-2AE8-509A-4DD3FCA66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25FDDB9B-B8BE-732D-F057-35F5A4F46431}"/>
              </a:ext>
            </a:extLst>
          </p:cNvPr>
          <p:cNvSpPr txBox="1"/>
          <p:nvPr/>
        </p:nvSpPr>
        <p:spPr>
          <a:xfrm>
            <a:off x="60385" y="6558108"/>
            <a:ext cx="9601200" cy="138499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pt-BR" sz="2800" dirty="0"/>
              <a:t>	</a:t>
            </a:r>
          </a:p>
          <a:p>
            <a:r>
              <a:rPr lang="pt-BR" sz="2800" dirty="0"/>
              <a:t>	Isso retorna cada cidade apenas uma vez.</a:t>
            </a:r>
          </a:p>
          <a:p>
            <a:endParaRPr lang="pt-BR" sz="2800" dirty="0"/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B9B30E18-E64E-7DD1-8D60-F361D0152585}"/>
              </a:ext>
            </a:extLst>
          </p:cNvPr>
          <p:cNvSpPr txBox="1"/>
          <p:nvPr/>
        </p:nvSpPr>
        <p:spPr>
          <a:xfrm>
            <a:off x="0" y="0"/>
            <a:ext cx="9601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dirty="0"/>
              <a:t>Removendo resultados duplicados (DISTINCT)</a:t>
            </a:r>
            <a:endParaRPr lang="pt-BR" sz="4800" b="1" dirty="0">
              <a:latin typeface="+mj-lt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D6C3EA-C3E2-24FE-6689-FDD8ED922F8D}"/>
              </a:ext>
            </a:extLst>
          </p:cNvPr>
          <p:cNvSpPr/>
          <p:nvPr/>
        </p:nvSpPr>
        <p:spPr>
          <a:xfrm flipV="1">
            <a:off x="0" y="1569660"/>
            <a:ext cx="96012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subtitulo_componente">
            <a:extLst>
              <a:ext uri="{FF2B5EF4-FFF2-40B4-BE49-F238E27FC236}">
                <a16:creationId xmlns:a16="http://schemas.microsoft.com/office/drawing/2014/main" id="{19C05104-3632-9FE2-218C-A9B6F88B9956}"/>
              </a:ext>
            </a:extLst>
          </p:cNvPr>
          <p:cNvSpPr txBox="1"/>
          <p:nvPr/>
        </p:nvSpPr>
        <p:spPr>
          <a:xfrm>
            <a:off x="60385" y="2406595"/>
            <a:ext cx="94804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/>
              <a:t>Evitar repetições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DF37243-FA21-C913-B25D-01546A87F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66" y="3139320"/>
            <a:ext cx="8565995" cy="3426398"/>
          </a:xfrm>
          <a:prstGeom prst="rect">
            <a:avLst/>
          </a:prstGeom>
        </p:spPr>
      </p:pic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DEA55FED-ADE9-402B-5BF6-30592A824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21</a:t>
            </a:fld>
            <a:endParaRPr lang="pt-BR"/>
          </a:p>
        </p:txBody>
      </p:sp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10FB6D87-48E9-F69E-733A-EDFE34379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7C667CCE-4EB2-A29D-6D5A-E90AE138486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-3773" y="11785936"/>
            <a:ext cx="1015663" cy="10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358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09482-3025-7CDD-EB9B-8DC3C272B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235C99-4758-D668-F3A7-1FEBDAC8C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91" t="9335" r="17046" b="8961"/>
          <a:stretch>
            <a:fillRect/>
          </a:stretch>
        </p:blipFill>
        <p:spPr>
          <a:xfrm>
            <a:off x="0" y="0"/>
            <a:ext cx="9601200" cy="12801600"/>
          </a:xfrm>
          <a:prstGeom prst="rect">
            <a:avLst/>
          </a:prstGeom>
        </p:spPr>
      </p:pic>
      <p:sp>
        <p:nvSpPr>
          <p:cNvPr id="3" name="titulo_componente">
            <a:extLst>
              <a:ext uri="{FF2B5EF4-FFF2-40B4-BE49-F238E27FC236}">
                <a16:creationId xmlns:a16="http://schemas.microsoft.com/office/drawing/2014/main" id="{75A94487-BB3F-50C8-3665-F3B7D3EEC659}"/>
              </a:ext>
            </a:extLst>
          </p:cNvPr>
          <p:cNvSpPr txBox="1"/>
          <p:nvPr/>
        </p:nvSpPr>
        <p:spPr>
          <a:xfrm>
            <a:off x="0" y="9310644"/>
            <a:ext cx="9601200" cy="25545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pt-BR" sz="8000" dirty="0">
                <a:ln w="0"/>
                <a:solidFill>
                  <a:schemeClr val="bg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Avançando um Pouco</a:t>
            </a:r>
          </a:p>
          <a:p>
            <a:pPr algn="ctr"/>
            <a:r>
              <a:rPr lang="pt-BR" sz="8000" dirty="0">
                <a:ln w="0"/>
                <a:solidFill>
                  <a:schemeClr val="bg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Mais</a:t>
            </a:r>
            <a:endParaRPr lang="pt-BR" sz="8000" dirty="0">
              <a:ln w="0"/>
              <a:solidFill>
                <a:schemeClr val="bg2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CE561954-E031-52ED-A32D-17B1DE646F0F}"/>
              </a:ext>
            </a:extLst>
          </p:cNvPr>
          <p:cNvSpPr txBox="1"/>
          <p:nvPr/>
        </p:nvSpPr>
        <p:spPr>
          <a:xfrm>
            <a:off x="2513756" y="793037"/>
            <a:ext cx="4573688" cy="538609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pt-BR" sz="34400" b="1" dirty="0">
                <a:ln>
                  <a:solidFill>
                    <a:sysClr val="windowText" lastClr="000000"/>
                  </a:solidFill>
                </a:ln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07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6398228-D5C6-0EB8-AC89-ADDB82A2F508}"/>
              </a:ext>
            </a:extLst>
          </p:cNvPr>
          <p:cNvSpPr/>
          <p:nvPr/>
        </p:nvSpPr>
        <p:spPr>
          <a:xfrm>
            <a:off x="377401" y="10498618"/>
            <a:ext cx="8846396" cy="1035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247C5DD-09D0-9CAC-DF32-68E4B7B91B21}"/>
              </a:ext>
            </a:extLst>
          </p:cNvPr>
          <p:cNvSpPr/>
          <p:nvPr/>
        </p:nvSpPr>
        <p:spPr>
          <a:xfrm>
            <a:off x="3609074" y="11750490"/>
            <a:ext cx="2383051" cy="1035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CDBDDFD2-6400-4B9F-EDC5-7395A28D9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</p:spTree>
    <p:extLst>
      <p:ext uri="{BB962C8B-B14F-4D97-AF65-F5344CB8AC3E}">
        <p14:creationId xmlns:p14="http://schemas.microsoft.com/office/powerpoint/2010/main" val="981000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F6386-767D-5F94-F25A-028C47582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BB7CF2E9-DC4E-62D1-4DBD-C649FA7B9640}"/>
              </a:ext>
            </a:extLst>
          </p:cNvPr>
          <p:cNvSpPr txBox="1"/>
          <p:nvPr/>
        </p:nvSpPr>
        <p:spPr>
          <a:xfrm>
            <a:off x="138022" y="3605531"/>
            <a:ext cx="9601200" cy="698652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pt-BR" sz="2800" dirty="0"/>
              <a:t>	</a:t>
            </a:r>
            <a:r>
              <a:rPr lang="pt-BR" sz="2800" dirty="0" err="1"/>
              <a:t>JOINs</a:t>
            </a:r>
            <a:r>
              <a:rPr lang="pt-BR" sz="2800" dirty="0"/>
              <a:t> conectam dados de duas tabelas diferentes.</a:t>
            </a:r>
          </a:p>
          <a:p>
            <a:r>
              <a:rPr lang="pt-BR" sz="2800" dirty="0"/>
              <a:t>Exemplo de junção simples:</a:t>
            </a:r>
          </a:p>
          <a:p>
            <a:endParaRPr lang="pt-BR" sz="2800" dirty="0"/>
          </a:p>
          <a:p>
            <a:r>
              <a:rPr lang="pt-BR" sz="2800" dirty="0"/>
              <a:t>	</a:t>
            </a:r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r>
              <a:rPr lang="pt-BR" sz="2800" dirty="0"/>
              <a:t>	Isso permite unir dados relacionados, como pedidos + nome do cliente.</a:t>
            </a:r>
          </a:p>
          <a:p>
            <a:endParaRPr lang="pt-BR" sz="2800" dirty="0"/>
          </a:p>
          <a:p>
            <a:endParaRPr lang="pt-BR" sz="2800" dirty="0"/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5E39CFF2-A468-BD6E-A0C4-30E8920B2288}"/>
              </a:ext>
            </a:extLst>
          </p:cNvPr>
          <p:cNvSpPr txBox="1"/>
          <p:nvPr/>
        </p:nvSpPr>
        <p:spPr>
          <a:xfrm>
            <a:off x="0" y="461080"/>
            <a:ext cx="960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/>
              <a:t>Junções (</a:t>
            </a:r>
            <a:r>
              <a:rPr lang="pt-BR" sz="5400" dirty="0" err="1"/>
              <a:t>JOINs</a:t>
            </a:r>
            <a:r>
              <a:rPr lang="pt-BR" sz="5400" dirty="0"/>
              <a:t>)</a:t>
            </a:r>
            <a:endParaRPr lang="pt-BR" sz="5400" b="1" dirty="0">
              <a:latin typeface="+mj-lt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C4B9295-78AB-C024-90B5-C06F7FAA5834}"/>
              </a:ext>
            </a:extLst>
          </p:cNvPr>
          <p:cNvSpPr/>
          <p:nvPr/>
        </p:nvSpPr>
        <p:spPr>
          <a:xfrm>
            <a:off x="0" y="1361551"/>
            <a:ext cx="96012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subtitulo_componente">
            <a:extLst>
              <a:ext uri="{FF2B5EF4-FFF2-40B4-BE49-F238E27FC236}">
                <a16:creationId xmlns:a16="http://schemas.microsoft.com/office/drawing/2014/main" id="{D4DF5A31-D1CB-C60F-BDB9-B729C07EB265}"/>
              </a:ext>
            </a:extLst>
          </p:cNvPr>
          <p:cNvSpPr txBox="1"/>
          <p:nvPr/>
        </p:nvSpPr>
        <p:spPr>
          <a:xfrm>
            <a:off x="2399503" y="2121680"/>
            <a:ext cx="48021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Conectando tabelas</a:t>
            </a:r>
            <a:endParaRPr lang="pt-BR" sz="4400" dirty="0">
              <a:latin typeface="+mj-lt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84B6ADA-2496-BC59-2930-4DE2E4F22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718" y="5284135"/>
            <a:ext cx="7556739" cy="2803984"/>
          </a:xfrm>
          <a:prstGeom prst="rect">
            <a:avLst/>
          </a:prstGeom>
        </p:spPr>
      </p:pic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5402C2F9-ACA3-A17E-B7CD-A24880FFD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23</a:t>
            </a:fld>
            <a:endParaRPr lang="pt-BR"/>
          </a:p>
        </p:txBody>
      </p:sp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8670794C-0110-0879-557D-209D2EFBB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C71EFF6B-1A58-696A-9561-7F9C56BD6C5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-3773" y="11785936"/>
            <a:ext cx="1015663" cy="10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665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EEE80-80F2-09E2-2F8E-B6D0EFAF6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BEBC0EB7-ADC1-510B-4744-9EA5B6ACE008}"/>
              </a:ext>
            </a:extLst>
          </p:cNvPr>
          <p:cNvSpPr txBox="1"/>
          <p:nvPr/>
        </p:nvSpPr>
        <p:spPr>
          <a:xfrm>
            <a:off x="0" y="3482430"/>
            <a:ext cx="9601200" cy="569386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pt-BR" sz="2800" dirty="0"/>
              <a:t>	Usadas para cálculos:</a:t>
            </a:r>
          </a:p>
          <a:p>
            <a:endParaRPr lang="pt-BR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b="1" dirty="0"/>
              <a:t>COUNT()</a:t>
            </a:r>
            <a:r>
              <a:rPr lang="pt-BR" sz="2800" dirty="0"/>
              <a:t> → conta registros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b="1" dirty="0"/>
              <a:t>SUM()</a:t>
            </a:r>
            <a:r>
              <a:rPr lang="pt-BR" sz="2800" dirty="0"/>
              <a:t> → soma valores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b="1" dirty="0"/>
              <a:t>AVG()</a:t>
            </a:r>
            <a:r>
              <a:rPr lang="pt-BR" sz="2800" dirty="0"/>
              <a:t> → média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b="1" dirty="0"/>
              <a:t>MAX()</a:t>
            </a:r>
            <a:r>
              <a:rPr lang="pt-BR" sz="2800" dirty="0"/>
              <a:t> → maior valor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b="1" dirty="0"/>
              <a:t>MIN()</a:t>
            </a:r>
            <a:r>
              <a:rPr lang="pt-BR" sz="2800" dirty="0"/>
              <a:t> → menor valor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b="1" dirty="0"/>
              <a:t>AS </a:t>
            </a:r>
            <a:r>
              <a:rPr lang="pt-BR" sz="2800" dirty="0"/>
              <a:t>→ definir um pseudônimo (ou alias) para a coluna resultante da operação </a:t>
            </a:r>
          </a:p>
          <a:p>
            <a:endParaRPr lang="pt-BR" sz="2800" dirty="0"/>
          </a:p>
          <a:p>
            <a:r>
              <a:rPr lang="pt-BR" sz="2800" dirty="0"/>
              <a:t>Exemplo:</a:t>
            </a:r>
          </a:p>
          <a:p>
            <a:endParaRPr lang="pt-BR" sz="2800" dirty="0"/>
          </a:p>
          <a:p>
            <a:endParaRPr lang="pt-BR" sz="2800" dirty="0"/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ACC49768-815F-3F3D-4758-AF75AA518149}"/>
              </a:ext>
            </a:extLst>
          </p:cNvPr>
          <p:cNvSpPr txBox="1"/>
          <p:nvPr/>
        </p:nvSpPr>
        <p:spPr>
          <a:xfrm>
            <a:off x="0" y="322581"/>
            <a:ext cx="9601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dirty="0"/>
              <a:t>Funções de agregação</a:t>
            </a:r>
            <a:endParaRPr lang="pt-BR" sz="6000" b="1" dirty="0">
              <a:latin typeface="+mj-lt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B713F6D-2AE6-663E-EDC1-CB150BD6022D}"/>
              </a:ext>
            </a:extLst>
          </p:cNvPr>
          <p:cNvSpPr/>
          <p:nvPr/>
        </p:nvSpPr>
        <p:spPr>
          <a:xfrm>
            <a:off x="0" y="1361551"/>
            <a:ext cx="96012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subtitulo_componente">
            <a:extLst>
              <a:ext uri="{FF2B5EF4-FFF2-40B4-BE49-F238E27FC236}">
                <a16:creationId xmlns:a16="http://schemas.microsoft.com/office/drawing/2014/main" id="{3887B20A-5E6A-85AE-05DB-3CA767A29146}"/>
              </a:ext>
            </a:extLst>
          </p:cNvPr>
          <p:cNvSpPr txBox="1"/>
          <p:nvPr/>
        </p:nvSpPr>
        <p:spPr>
          <a:xfrm>
            <a:off x="2633776" y="2121680"/>
            <a:ext cx="47331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Cálculos e resumos</a:t>
            </a:r>
            <a:endParaRPr lang="pt-BR" sz="4400" dirty="0">
              <a:latin typeface="+mj-lt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D2C6416-8DF5-8C8E-9A4F-3F26D67F5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96385"/>
            <a:ext cx="65" cy="79277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36463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1A50B78A-4386-CEB3-14D5-645769EF98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11913"/>
            <a:ext cx="9463178" cy="3511383"/>
          </a:xfrm>
          <a:prstGeom prst="rect">
            <a:avLst/>
          </a:prstGeom>
        </p:spPr>
      </p:pic>
      <p:sp>
        <p:nvSpPr>
          <p:cNvPr id="15" name="Espaço Reservado para Número de Slide 14">
            <a:extLst>
              <a:ext uri="{FF2B5EF4-FFF2-40B4-BE49-F238E27FC236}">
                <a16:creationId xmlns:a16="http://schemas.microsoft.com/office/drawing/2014/main" id="{2535BF9E-A2B0-FA81-6F4A-D4A8692E1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24</a:t>
            </a:fld>
            <a:endParaRPr lang="pt-BR"/>
          </a:p>
        </p:txBody>
      </p:sp>
      <p:sp>
        <p:nvSpPr>
          <p:cNvPr id="16" name="Espaço Reservado para Rodapé 15">
            <a:extLst>
              <a:ext uri="{FF2B5EF4-FFF2-40B4-BE49-F238E27FC236}">
                <a16:creationId xmlns:a16="http://schemas.microsoft.com/office/drawing/2014/main" id="{12F44E24-2E79-1704-4BA6-17EB48C76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27825CB5-9DB4-D960-BA9B-98C2C81EFE2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-3773" y="11785936"/>
            <a:ext cx="1015663" cy="10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522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84DDC-69AD-BED7-FD3F-877B7D841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9A639C47-5FDA-3012-811B-5FD15291F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91" t="9335" r="17046" b="8961"/>
          <a:stretch>
            <a:fillRect/>
          </a:stretch>
        </p:blipFill>
        <p:spPr>
          <a:xfrm>
            <a:off x="0" y="0"/>
            <a:ext cx="9601200" cy="12801600"/>
          </a:xfrm>
          <a:prstGeom prst="rect">
            <a:avLst/>
          </a:prstGeom>
        </p:spPr>
      </p:pic>
      <p:sp>
        <p:nvSpPr>
          <p:cNvPr id="3" name="titulo_componente">
            <a:extLst>
              <a:ext uri="{FF2B5EF4-FFF2-40B4-BE49-F238E27FC236}">
                <a16:creationId xmlns:a16="http://schemas.microsoft.com/office/drawing/2014/main" id="{371760E2-57D6-6212-8BBF-97006034F9D0}"/>
              </a:ext>
            </a:extLst>
          </p:cNvPr>
          <p:cNvSpPr txBox="1"/>
          <p:nvPr/>
        </p:nvSpPr>
        <p:spPr>
          <a:xfrm>
            <a:off x="0" y="10286906"/>
            <a:ext cx="9601200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pt-BR" sz="8000" dirty="0">
                <a:ln w="0"/>
                <a:solidFill>
                  <a:schemeClr val="bg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Conclusão da Jornada</a:t>
            </a:r>
            <a:endParaRPr lang="pt-BR" sz="8000" dirty="0">
              <a:ln w="0"/>
              <a:solidFill>
                <a:schemeClr val="bg2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5D144C13-9CA8-CA9C-A5BF-334340CA4BE4}"/>
              </a:ext>
            </a:extLst>
          </p:cNvPr>
          <p:cNvSpPr txBox="1"/>
          <p:nvPr/>
        </p:nvSpPr>
        <p:spPr>
          <a:xfrm>
            <a:off x="2513756" y="793037"/>
            <a:ext cx="4573688" cy="538609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pt-BR" sz="34400" b="1" dirty="0">
                <a:ln>
                  <a:solidFill>
                    <a:sysClr val="windowText" lastClr="000000"/>
                  </a:solidFill>
                </a:ln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08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12212A8-7E7B-61BE-18A3-DC4CD5AC2F0A}"/>
              </a:ext>
            </a:extLst>
          </p:cNvPr>
          <p:cNvSpPr/>
          <p:nvPr/>
        </p:nvSpPr>
        <p:spPr>
          <a:xfrm flipV="1">
            <a:off x="377402" y="11395842"/>
            <a:ext cx="8846396" cy="1181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BACCFDE1-EE84-1DE5-650B-CDE72F221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</p:spTree>
    <p:extLst>
      <p:ext uri="{BB962C8B-B14F-4D97-AF65-F5344CB8AC3E}">
        <p14:creationId xmlns:p14="http://schemas.microsoft.com/office/powerpoint/2010/main" val="5313337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80271-B2C0-FEC9-C453-2A4070CFC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8F2BDA33-286A-011D-94DA-0665F0BA1781}"/>
              </a:ext>
            </a:extLst>
          </p:cNvPr>
          <p:cNvSpPr txBox="1"/>
          <p:nvPr/>
        </p:nvSpPr>
        <p:spPr>
          <a:xfrm>
            <a:off x="0" y="3531823"/>
            <a:ext cx="9601200" cy="440120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pt-BR" sz="2800" dirty="0"/>
              <a:t>	Neste </a:t>
            </a:r>
            <a:r>
              <a:rPr lang="pt-BR" sz="2800" dirty="0" err="1"/>
              <a:t>eBook</a:t>
            </a:r>
            <a:r>
              <a:rPr lang="pt-BR" sz="2800" dirty="0"/>
              <a:t> você viu:</a:t>
            </a:r>
          </a:p>
          <a:p>
            <a:endParaRPr lang="pt-BR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Como funciona um banco de dados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Estruturas como tabelas, colunas e registros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Consultas com SELECT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Filtros com WHERE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Ordenação e organização dos resultados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Como criar, inserir, atualizar e apagar dados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Introdução a </a:t>
            </a:r>
            <a:r>
              <a:rPr lang="pt-BR" sz="2800" dirty="0" err="1"/>
              <a:t>JOINs</a:t>
            </a:r>
            <a:r>
              <a:rPr lang="pt-BR" sz="2800" dirty="0"/>
              <a:t> e funções avançadas</a:t>
            </a:r>
          </a:p>
          <a:p>
            <a:endParaRPr lang="pt-BR" sz="2800" dirty="0"/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B92CA4AA-1020-345C-A37C-A29DE85A8EE5}"/>
              </a:ext>
            </a:extLst>
          </p:cNvPr>
          <p:cNvSpPr txBox="1"/>
          <p:nvPr/>
        </p:nvSpPr>
        <p:spPr>
          <a:xfrm>
            <a:off x="0" y="253555"/>
            <a:ext cx="9601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dirty="0"/>
              <a:t>Revisão Geral</a:t>
            </a:r>
            <a:endParaRPr lang="pt-BR" sz="6600" b="1" dirty="0">
              <a:latin typeface="+mj-lt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F897E18-311F-D127-2BFD-FDB68A9D137D}"/>
              </a:ext>
            </a:extLst>
          </p:cNvPr>
          <p:cNvSpPr/>
          <p:nvPr/>
        </p:nvSpPr>
        <p:spPr>
          <a:xfrm>
            <a:off x="0" y="1361551"/>
            <a:ext cx="96012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subtitulo_componente">
            <a:extLst>
              <a:ext uri="{FF2B5EF4-FFF2-40B4-BE49-F238E27FC236}">
                <a16:creationId xmlns:a16="http://schemas.microsoft.com/office/drawing/2014/main" id="{4E76D5DA-7E72-D411-60E6-D7D58A68C475}"/>
              </a:ext>
            </a:extLst>
          </p:cNvPr>
          <p:cNvSpPr txBox="1"/>
          <p:nvPr/>
        </p:nvSpPr>
        <p:spPr>
          <a:xfrm>
            <a:off x="2495755" y="2084826"/>
            <a:ext cx="52335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O que você aprendeu</a:t>
            </a:r>
            <a:endParaRPr lang="pt-BR" sz="4400" dirty="0">
              <a:latin typeface="+mj-lt"/>
            </a:endParaRP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AC0E2AD-2A13-CF08-13CB-B74879A5F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26</a:t>
            </a:fld>
            <a:endParaRPr lang="pt-BR"/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AD7A0697-4423-B4B1-5E78-3EDFD70EB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7D78C4B-5BCE-1FE0-C1AD-8B1A053F9FB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-3773" y="11785936"/>
            <a:ext cx="1015663" cy="10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4209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D27F7-F5F6-2188-0E7E-EA3FE6506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45C024F9-169D-8042-C730-482357B22A88}"/>
              </a:ext>
            </a:extLst>
          </p:cNvPr>
          <p:cNvSpPr txBox="1"/>
          <p:nvPr/>
        </p:nvSpPr>
        <p:spPr>
          <a:xfrm>
            <a:off x="0" y="3531823"/>
            <a:ext cx="9601200" cy="267765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pt-BR" sz="2800" dirty="0"/>
              <a:t>	SQL é uma habilidade essencial e poderosa. Com ela, você domina a linguagem que controla os dados do mundo moderno.</a:t>
            </a:r>
          </a:p>
          <a:p>
            <a:br>
              <a:rPr lang="pt-BR" sz="2800" dirty="0"/>
            </a:br>
            <a:r>
              <a:rPr lang="pt-BR" sz="2800" dirty="0"/>
              <a:t>	Esse é apenas o primeiro passo — e o próximo capítulo dessa jornada é você quem escreve.</a:t>
            </a:r>
          </a:p>
          <a:p>
            <a:endParaRPr lang="pt-BR" sz="2800" dirty="0"/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4B16EFC-9B94-9887-6403-AE81AC4A428C}"/>
              </a:ext>
            </a:extLst>
          </p:cNvPr>
          <p:cNvSpPr txBox="1"/>
          <p:nvPr/>
        </p:nvSpPr>
        <p:spPr>
          <a:xfrm>
            <a:off x="0" y="299274"/>
            <a:ext cx="9601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dirty="0"/>
              <a:t>Mensagem Final</a:t>
            </a:r>
            <a:endParaRPr lang="pt-BR" sz="6600" b="1" dirty="0">
              <a:latin typeface="+mj-lt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C7136D8-CDA3-648B-D97A-C3A7F3D5BDD0}"/>
              </a:ext>
            </a:extLst>
          </p:cNvPr>
          <p:cNvSpPr/>
          <p:nvPr/>
        </p:nvSpPr>
        <p:spPr>
          <a:xfrm>
            <a:off x="0" y="1361551"/>
            <a:ext cx="96012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subtitulo_componente">
            <a:extLst>
              <a:ext uri="{FF2B5EF4-FFF2-40B4-BE49-F238E27FC236}">
                <a16:creationId xmlns:a16="http://schemas.microsoft.com/office/drawing/2014/main" id="{ECB5EC96-8578-A98B-4B0A-61274ABF76BB}"/>
              </a:ext>
            </a:extLst>
          </p:cNvPr>
          <p:cNvSpPr txBox="1"/>
          <p:nvPr/>
        </p:nvSpPr>
        <p:spPr>
          <a:xfrm>
            <a:off x="0" y="2084826"/>
            <a:ext cx="9601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/>
              <a:t>Encerramento e próximos passos</a:t>
            </a:r>
            <a:endParaRPr lang="pt-BR" sz="4400" dirty="0">
              <a:latin typeface="+mj-lt"/>
            </a:endParaRP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28B25E-2AA7-9F1D-2852-387742CC1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56C-32FC-486B-A040-E367F151BCDC}" type="slidenum">
              <a:rPr lang="pt-BR" smtClean="0"/>
              <a:t>27</a:t>
            </a:fld>
            <a:endParaRPr lang="pt-BR"/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254EDE11-4A88-7024-1104-D3E7315EA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Code &amp; Query - Augusto Belussi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8B5CBF0-D409-C299-2BE1-74B9387E55AA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-3773" y="11785936"/>
            <a:ext cx="1015663" cy="10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795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947</TotalTime>
  <Words>1013</Words>
  <Application>Microsoft Office PowerPoint</Application>
  <PresentationFormat>Papel A3 (297 x 420 mm)</PresentationFormat>
  <Paragraphs>226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Impact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&amp; Query </dc:title>
  <dc:subject>SQL</dc:subject>
  <dc:creator>Augusto Belussi</dc:creator>
  <cp:lastModifiedBy>Augusto Belussi</cp:lastModifiedBy>
  <cp:revision>19</cp:revision>
  <dcterms:created xsi:type="dcterms:W3CDTF">2025-11-08T00:39:34Z</dcterms:created>
  <dcterms:modified xsi:type="dcterms:W3CDTF">2025-11-15T05:36:02Z</dcterms:modified>
</cp:coreProperties>
</file>